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oper Hewitt Bold" pitchFamily="2" charset="77"/>
      <p:regular r:id="rId12"/>
      <p:bold r:id="rId13"/>
    </p:embeddedFont>
    <p:embeddedFont>
      <p:font typeface="Klein" panose="02000503060000020004" pitchFamily="2" charset="0"/>
      <p:regular r:id="rId14"/>
    </p:embeddedFont>
    <p:embeddedFont>
      <p:font typeface="Klein Bold" panose="02000503060000020004" pitchFamily="2" charset="0"/>
      <p:regular r:id="rId15"/>
      <p:bold r:id="rId16"/>
    </p:embeddedFont>
    <p:embeddedFont>
      <p:font typeface="Klein Heavy" panose="02000503060000020004" pitchFamily="2" charset="0"/>
      <p:regular r:id="rId17"/>
      <p:bold r:id="rId18"/>
    </p:embeddedFont>
    <p:embeddedFont>
      <p:font typeface="Montserrat" pitchFamily="2" charset="77"/>
      <p:regular r:id="rId19"/>
    </p:embeddedFont>
    <p:embeddedFont>
      <p:font typeface="Montserrat Bold" pitchFamily="2" charset="77"/>
      <p:regular r:id="rId20"/>
      <p:bold r:id="rId21"/>
    </p:embeddedFont>
    <p:embeddedFont>
      <p:font typeface="More Sugar" pitchFamily="2" charset="0"/>
      <p:regular r:id="rId22"/>
    </p:embeddedFont>
    <p:embeddedFont>
      <p:font typeface="Mulled Wine Season" pitchFamily="2" charset="77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 autoAdjust="0"/>
    <p:restoredTop sz="94579" autoAdjust="0"/>
  </p:normalViewPr>
  <p:slideViewPr>
    <p:cSldViewPr>
      <p:cViewPr varScale="1">
        <p:scale>
          <a:sx n="67" d="100"/>
          <a:sy n="67" d="100"/>
        </p:scale>
        <p:origin x="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13" Type="http://schemas.openxmlformats.org/officeDocument/2006/relationships/image" Target="../media/image28.svg"/><Relationship Id="rId3" Type="http://schemas.openxmlformats.org/officeDocument/2006/relationships/image" Target="../media/image18.sv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jpeg"/><Relationship Id="rId5" Type="http://schemas.openxmlformats.org/officeDocument/2006/relationships/image" Target="../media/image20.svg"/><Relationship Id="rId10" Type="http://schemas.openxmlformats.org/officeDocument/2006/relationships/image" Target="../media/image25.sv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12.svg"/><Relationship Id="rId10" Type="http://schemas.openxmlformats.org/officeDocument/2006/relationships/image" Target="../media/image35.svg"/><Relationship Id="rId4" Type="http://schemas.openxmlformats.org/officeDocument/2006/relationships/image" Target="../media/image11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svg"/><Relationship Id="rId10" Type="http://schemas.openxmlformats.org/officeDocument/2006/relationships/image" Target="../media/image44.sv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svg"/><Relationship Id="rId4" Type="http://schemas.openxmlformats.org/officeDocument/2006/relationships/image" Target="../media/image65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png"/><Relationship Id="rId18" Type="http://schemas.openxmlformats.org/officeDocument/2006/relationships/image" Target="../media/image83.svg"/><Relationship Id="rId26" Type="http://schemas.openxmlformats.org/officeDocument/2006/relationships/image" Target="../media/image91.svg"/><Relationship Id="rId39" Type="http://schemas.openxmlformats.org/officeDocument/2006/relationships/image" Target="../media/image104.png"/><Relationship Id="rId21" Type="http://schemas.openxmlformats.org/officeDocument/2006/relationships/image" Target="../media/image86.png"/><Relationship Id="rId34" Type="http://schemas.openxmlformats.org/officeDocument/2006/relationships/image" Target="../media/image99.svg"/><Relationship Id="rId42" Type="http://schemas.openxmlformats.org/officeDocument/2006/relationships/image" Target="../media/image107.png"/><Relationship Id="rId47" Type="http://schemas.openxmlformats.org/officeDocument/2006/relationships/image" Target="../media/image112.sv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6" Type="http://schemas.openxmlformats.org/officeDocument/2006/relationships/image" Target="../media/image81.svg"/><Relationship Id="rId29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24" Type="http://schemas.openxmlformats.org/officeDocument/2006/relationships/image" Target="../media/image89.svg"/><Relationship Id="rId32" Type="http://schemas.openxmlformats.org/officeDocument/2006/relationships/image" Target="../media/image97.svg"/><Relationship Id="rId37" Type="http://schemas.openxmlformats.org/officeDocument/2006/relationships/image" Target="../media/image102.png"/><Relationship Id="rId40" Type="http://schemas.openxmlformats.org/officeDocument/2006/relationships/image" Target="../media/image105.png"/><Relationship Id="rId45" Type="http://schemas.openxmlformats.org/officeDocument/2006/relationships/image" Target="../media/image110.sv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28" Type="http://schemas.openxmlformats.org/officeDocument/2006/relationships/image" Target="../media/image93.svg"/><Relationship Id="rId36" Type="http://schemas.openxmlformats.org/officeDocument/2006/relationships/image" Target="../media/image101.svg"/><Relationship Id="rId10" Type="http://schemas.openxmlformats.org/officeDocument/2006/relationships/image" Target="../media/image75.svg"/><Relationship Id="rId19" Type="http://schemas.openxmlformats.org/officeDocument/2006/relationships/image" Target="../media/image84.png"/><Relationship Id="rId31" Type="http://schemas.openxmlformats.org/officeDocument/2006/relationships/image" Target="../media/image96.png"/><Relationship Id="rId44" Type="http://schemas.openxmlformats.org/officeDocument/2006/relationships/image" Target="../media/image109.png"/><Relationship Id="rId4" Type="http://schemas.openxmlformats.org/officeDocument/2006/relationships/image" Target="../media/image69.svg"/><Relationship Id="rId9" Type="http://schemas.openxmlformats.org/officeDocument/2006/relationships/image" Target="../media/image74.png"/><Relationship Id="rId14" Type="http://schemas.openxmlformats.org/officeDocument/2006/relationships/image" Target="../media/image79.svg"/><Relationship Id="rId22" Type="http://schemas.openxmlformats.org/officeDocument/2006/relationships/image" Target="../media/image87.svg"/><Relationship Id="rId27" Type="http://schemas.openxmlformats.org/officeDocument/2006/relationships/image" Target="../media/image92.png"/><Relationship Id="rId30" Type="http://schemas.openxmlformats.org/officeDocument/2006/relationships/image" Target="../media/image95.svg"/><Relationship Id="rId35" Type="http://schemas.openxmlformats.org/officeDocument/2006/relationships/image" Target="../media/image100.png"/><Relationship Id="rId43" Type="http://schemas.openxmlformats.org/officeDocument/2006/relationships/image" Target="../media/image108.svg"/><Relationship Id="rId8" Type="http://schemas.openxmlformats.org/officeDocument/2006/relationships/image" Target="../media/image73.svg"/><Relationship Id="rId3" Type="http://schemas.openxmlformats.org/officeDocument/2006/relationships/image" Target="../media/image68.png"/><Relationship Id="rId12" Type="http://schemas.openxmlformats.org/officeDocument/2006/relationships/image" Target="../media/image77.svg"/><Relationship Id="rId17" Type="http://schemas.openxmlformats.org/officeDocument/2006/relationships/image" Target="../media/image82.png"/><Relationship Id="rId25" Type="http://schemas.openxmlformats.org/officeDocument/2006/relationships/image" Target="../media/image90.png"/><Relationship Id="rId33" Type="http://schemas.openxmlformats.org/officeDocument/2006/relationships/image" Target="../media/image98.png"/><Relationship Id="rId38" Type="http://schemas.openxmlformats.org/officeDocument/2006/relationships/image" Target="../media/image103.svg"/><Relationship Id="rId46" Type="http://schemas.openxmlformats.org/officeDocument/2006/relationships/image" Target="../media/image111.png"/><Relationship Id="rId20" Type="http://schemas.openxmlformats.org/officeDocument/2006/relationships/image" Target="../media/image85.svg"/><Relationship Id="rId41" Type="http://schemas.openxmlformats.org/officeDocument/2006/relationships/image" Target="../media/image10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7445" y="2565465"/>
            <a:ext cx="5916431" cy="1157583"/>
            <a:chOff x="0" y="0"/>
            <a:chExt cx="716755" cy="1433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6755" cy="143351"/>
            </a:xfrm>
            <a:custGeom>
              <a:avLst/>
              <a:gdLst/>
              <a:ahLst/>
              <a:cxnLst/>
              <a:rect l="l" t="t" r="r" b="b"/>
              <a:pathLst>
                <a:path w="716755" h="143351">
                  <a:moveTo>
                    <a:pt x="71675" y="0"/>
                  </a:moveTo>
                  <a:lnTo>
                    <a:pt x="645079" y="0"/>
                  </a:lnTo>
                  <a:cubicBezTo>
                    <a:pt x="684665" y="0"/>
                    <a:pt x="716755" y="32090"/>
                    <a:pt x="716755" y="71675"/>
                  </a:cubicBezTo>
                  <a:lnTo>
                    <a:pt x="716755" y="71675"/>
                  </a:lnTo>
                  <a:cubicBezTo>
                    <a:pt x="716755" y="90685"/>
                    <a:pt x="709203" y="108916"/>
                    <a:pt x="695762" y="122358"/>
                  </a:cubicBezTo>
                  <a:cubicBezTo>
                    <a:pt x="682320" y="135799"/>
                    <a:pt x="664089" y="143351"/>
                    <a:pt x="645079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16755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3500" y="762000"/>
            <a:ext cx="8763000" cy="9931243"/>
            <a:chOff x="0" y="0"/>
            <a:chExt cx="660400" cy="7484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748441"/>
            </a:xfrm>
            <a:custGeom>
              <a:avLst/>
              <a:gdLst/>
              <a:ahLst/>
              <a:cxnLst/>
              <a:rect l="l" t="t" r="r" b="b"/>
              <a:pathLst>
                <a:path w="660400" h="748441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7072"/>
                  </a:cubicBezTo>
                  <a:lnTo>
                    <a:pt x="660400" y="748441"/>
                  </a:lnTo>
                  <a:lnTo>
                    <a:pt x="0" y="748441"/>
                  </a:lnTo>
                  <a:lnTo>
                    <a:pt x="0" y="327385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98425"/>
              <a:ext cx="660400" cy="6500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9598239" y="2182186"/>
            <a:ext cx="7473522" cy="7753276"/>
          </a:xfrm>
          <a:custGeom>
            <a:avLst/>
            <a:gdLst/>
            <a:ahLst/>
            <a:cxnLst/>
            <a:rect l="l" t="t" r="r" b="b"/>
            <a:pathLst>
              <a:path w="7473522" h="7753276">
                <a:moveTo>
                  <a:pt x="0" y="0"/>
                </a:moveTo>
                <a:lnTo>
                  <a:pt x="7473522" y="0"/>
                </a:lnTo>
                <a:lnTo>
                  <a:pt x="7473522" y="7753276"/>
                </a:lnTo>
                <a:lnTo>
                  <a:pt x="0" y="775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5297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TH"/>
          </a:p>
        </p:txBody>
      </p:sp>
      <p:grpSp>
        <p:nvGrpSpPr>
          <p:cNvPr id="9" name="Group 9"/>
          <p:cNvGrpSpPr/>
          <p:nvPr/>
        </p:nvGrpSpPr>
        <p:grpSpPr>
          <a:xfrm>
            <a:off x="-859244" y="8799510"/>
            <a:ext cx="20006488" cy="2891773"/>
            <a:chOff x="0" y="0"/>
            <a:chExt cx="26675317" cy="38556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8880235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7760470" y="0"/>
              <a:ext cx="8914847" cy="823754"/>
            </a:xfrm>
            <a:custGeom>
              <a:avLst/>
              <a:gdLst/>
              <a:ahLst/>
              <a:cxnLst/>
              <a:rect l="l" t="t" r="r" b="b"/>
              <a:pathLst>
                <a:path w="8914847" h="823754">
                  <a:moveTo>
                    <a:pt x="0" y="0"/>
                  </a:moveTo>
                  <a:lnTo>
                    <a:pt x="8914847" y="0"/>
                  </a:lnTo>
                  <a:lnTo>
                    <a:pt x="8914847" y="823754"/>
                  </a:lnTo>
                  <a:lnTo>
                    <a:pt x="0" y="82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TH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510659" y="411877"/>
              <a:ext cx="25654000" cy="3443820"/>
              <a:chOff x="0" y="0"/>
              <a:chExt cx="5067457" cy="68026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067457" cy="680261"/>
              </a:xfrm>
              <a:custGeom>
                <a:avLst/>
                <a:gdLst/>
                <a:ahLst/>
                <a:cxnLst/>
                <a:rect l="l" t="t" r="r" b="b"/>
                <a:pathLst>
                  <a:path w="5067457" h="680261">
                    <a:moveTo>
                      <a:pt x="0" y="0"/>
                    </a:moveTo>
                    <a:lnTo>
                      <a:pt x="5067457" y="0"/>
                    </a:lnTo>
                    <a:lnTo>
                      <a:pt x="5067457" y="680261"/>
                    </a:lnTo>
                    <a:lnTo>
                      <a:pt x="0" y="680261"/>
                    </a:ln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19050"/>
                <a:ext cx="5067457" cy="699311"/>
              </a:xfrm>
              <a:prstGeom prst="rect">
                <a:avLst/>
              </a:prstGeom>
            </p:spPr>
            <p:txBody>
              <a:bodyPr lIns="51043" tIns="51043" rIns="51043" bIns="51043" rtlCol="0" anchor="ctr"/>
              <a:lstStyle/>
              <a:p>
                <a:pPr marL="0" lvl="0" indent="0" algn="ctr">
                  <a:lnSpc>
                    <a:spcPts val="208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1333500" y="7345268"/>
            <a:ext cx="3810000" cy="762000"/>
            <a:chOff x="0" y="0"/>
            <a:chExt cx="716755" cy="1433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6755" cy="143351"/>
            </a:xfrm>
            <a:custGeom>
              <a:avLst/>
              <a:gdLst/>
              <a:ahLst/>
              <a:cxnLst/>
              <a:rect l="l" t="t" r="r" b="b"/>
              <a:pathLst>
                <a:path w="716755" h="143351">
                  <a:moveTo>
                    <a:pt x="71675" y="0"/>
                  </a:moveTo>
                  <a:lnTo>
                    <a:pt x="645079" y="0"/>
                  </a:lnTo>
                  <a:cubicBezTo>
                    <a:pt x="684665" y="0"/>
                    <a:pt x="716755" y="32090"/>
                    <a:pt x="716755" y="71675"/>
                  </a:cubicBezTo>
                  <a:lnTo>
                    <a:pt x="716755" y="71675"/>
                  </a:lnTo>
                  <a:cubicBezTo>
                    <a:pt x="716755" y="90685"/>
                    <a:pt x="709203" y="108916"/>
                    <a:pt x="695762" y="122358"/>
                  </a:cubicBezTo>
                  <a:cubicBezTo>
                    <a:pt x="682320" y="135799"/>
                    <a:pt x="664089" y="143351"/>
                    <a:pt x="645079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38ABD1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16755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 dirty="0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By Group 10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33500" y="2701743"/>
            <a:ext cx="13875346" cy="3936465"/>
            <a:chOff x="0" y="57151"/>
            <a:chExt cx="18500462" cy="5248619"/>
          </a:xfrm>
        </p:grpSpPr>
        <p:sp>
          <p:nvSpPr>
            <p:cNvPr id="20" name="TextBox 20"/>
            <p:cNvSpPr txBox="1"/>
            <p:nvPr/>
          </p:nvSpPr>
          <p:spPr>
            <a:xfrm>
              <a:off x="0" y="3973974"/>
              <a:ext cx="18500462" cy="1331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74"/>
                </a:lnSpc>
              </a:pPr>
              <a:r>
                <a:rPr lang="en-US" sz="6288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for Climate Action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57151"/>
              <a:ext cx="18500462" cy="37715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392"/>
                </a:lnSpc>
              </a:pPr>
              <a:r>
                <a:rPr lang="en-US" sz="6720" b="1" dirty="0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AI-Powered</a:t>
              </a:r>
            </a:p>
            <a:p>
              <a:pPr algn="l">
                <a:lnSpc>
                  <a:spcPts val="7392"/>
                </a:lnSpc>
              </a:pPr>
              <a:r>
                <a:rPr lang="en-US" sz="6720" b="1" dirty="0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Flood Severity</a:t>
              </a:r>
            </a:p>
            <a:p>
              <a:pPr marL="0" lvl="0" indent="0" algn="l">
                <a:lnSpc>
                  <a:spcPts val="7392"/>
                </a:lnSpc>
                <a:spcBef>
                  <a:spcPct val="0"/>
                </a:spcBef>
              </a:pPr>
              <a:r>
                <a:rPr lang="en-US" sz="6720" b="1" dirty="0">
                  <a:solidFill>
                    <a:srgbClr val="000001"/>
                  </a:solidFill>
                  <a:latin typeface="Klein Heavy"/>
                  <a:ea typeface="Klein Heavy"/>
                  <a:cs typeface="Klein Heavy"/>
                  <a:sym typeface="Klein Heavy"/>
                </a:rPr>
                <a:t>Prediction  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7259300" y="9258300"/>
            <a:ext cx="905799" cy="905799"/>
          </a:xfrm>
          <a:custGeom>
            <a:avLst/>
            <a:gdLst/>
            <a:ahLst/>
            <a:cxnLst/>
            <a:rect l="l" t="t" r="r" b="b"/>
            <a:pathLst>
              <a:path w="905799" h="905799">
                <a:moveTo>
                  <a:pt x="0" y="0"/>
                </a:moveTo>
                <a:lnTo>
                  <a:pt x="905799" y="0"/>
                </a:lnTo>
                <a:lnTo>
                  <a:pt x="905799" y="905799"/>
                </a:lnTo>
                <a:lnTo>
                  <a:pt x="0" y="9057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2935" y="462755"/>
            <a:ext cx="17442131" cy="9361491"/>
            <a:chOff x="0" y="0"/>
            <a:chExt cx="4593812" cy="2465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812" cy="2465578"/>
            </a:xfrm>
            <a:custGeom>
              <a:avLst/>
              <a:gdLst/>
              <a:ahLst/>
              <a:cxnLst/>
              <a:rect l="l" t="t" r="r" b="b"/>
              <a:pathLst>
                <a:path w="4593812" h="2465578">
                  <a:moveTo>
                    <a:pt x="0" y="0"/>
                  </a:moveTo>
                  <a:lnTo>
                    <a:pt x="4593812" y="0"/>
                  </a:lnTo>
                  <a:lnTo>
                    <a:pt x="4593812" y="2465578"/>
                  </a:lnTo>
                  <a:lnTo>
                    <a:pt x="0" y="2465578"/>
                  </a:lnTo>
                  <a:close/>
                </a:path>
              </a:pathLst>
            </a:custGeom>
            <a:solidFill>
              <a:srgbClr val="EA4F57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593812" cy="2551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3186" y="709219"/>
            <a:ext cx="17021629" cy="8868563"/>
            <a:chOff x="0" y="0"/>
            <a:chExt cx="27702105" cy="14433276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27557325" cy="14288496"/>
            </a:xfrm>
            <a:custGeom>
              <a:avLst/>
              <a:gdLst/>
              <a:ahLst/>
              <a:cxnLst/>
              <a:rect l="l" t="t" r="r" b="b"/>
              <a:pathLst>
                <a:path w="27557325" h="14288496">
                  <a:moveTo>
                    <a:pt x="0" y="0"/>
                  </a:moveTo>
                  <a:lnTo>
                    <a:pt x="27557325" y="0"/>
                  </a:lnTo>
                  <a:lnTo>
                    <a:pt x="27557325" y="14288496"/>
                  </a:lnTo>
                  <a:lnTo>
                    <a:pt x="0" y="14288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B2CC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7702104" cy="14433276"/>
            </a:xfrm>
            <a:custGeom>
              <a:avLst/>
              <a:gdLst/>
              <a:ahLst/>
              <a:cxnLst/>
              <a:rect l="l" t="t" r="r" b="b"/>
              <a:pathLst>
                <a:path w="27702104" h="14433276">
                  <a:moveTo>
                    <a:pt x="27557326" y="14288495"/>
                  </a:moveTo>
                  <a:lnTo>
                    <a:pt x="27702104" y="14288495"/>
                  </a:lnTo>
                  <a:lnTo>
                    <a:pt x="27702104" y="14433276"/>
                  </a:lnTo>
                  <a:lnTo>
                    <a:pt x="27557326" y="14433276"/>
                  </a:lnTo>
                  <a:lnTo>
                    <a:pt x="27557326" y="142884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288495"/>
                  </a:lnTo>
                  <a:lnTo>
                    <a:pt x="0" y="14288495"/>
                  </a:lnTo>
                  <a:lnTo>
                    <a:pt x="0" y="144780"/>
                  </a:lnTo>
                  <a:close/>
                  <a:moveTo>
                    <a:pt x="0" y="14288495"/>
                  </a:moveTo>
                  <a:lnTo>
                    <a:pt x="144780" y="14288495"/>
                  </a:lnTo>
                  <a:lnTo>
                    <a:pt x="144780" y="14433276"/>
                  </a:lnTo>
                  <a:lnTo>
                    <a:pt x="0" y="14433276"/>
                  </a:lnTo>
                  <a:lnTo>
                    <a:pt x="0" y="14288495"/>
                  </a:lnTo>
                  <a:close/>
                  <a:moveTo>
                    <a:pt x="27557326" y="144780"/>
                  </a:moveTo>
                  <a:lnTo>
                    <a:pt x="27702104" y="144780"/>
                  </a:lnTo>
                  <a:lnTo>
                    <a:pt x="27702104" y="14288495"/>
                  </a:lnTo>
                  <a:lnTo>
                    <a:pt x="27557326" y="14288495"/>
                  </a:lnTo>
                  <a:lnTo>
                    <a:pt x="27557326" y="144780"/>
                  </a:lnTo>
                  <a:close/>
                  <a:moveTo>
                    <a:pt x="144780" y="14288495"/>
                  </a:moveTo>
                  <a:lnTo>
                    <a:pt x="27557326" y="14288495"/>
                  </a:lnTo>
                  <a:lnTo>
                    <a:pt x="27557326" y="14433276"/>
                  </a:lnTo>
                  <a:lnTo>
                    <a:pt x="144780" y="14433276"/>
                  </a:lnTo>
                  <a:lnTo>
                    <a:pt x="144780" y="14288495"/>
                  </a:lnTo>
                  <a:close/>
                  <a:moveTo>
                    <a:pt x="27557326" y="0"/>
                  </a:moveTo>
                  <a:lnTo>
                    <a:pt x="27702104" y="0"/>
                  </a:lnTo>
                  <a:lnTo>
                    <a:pt x="27702104" y="144780"/>
                  </a:lnTo>
                  <a:lnTo>
                    <a:pt x="27557326" y="144780"/>
                  </a:lnTo>
                  <a:lnTo>
                    <a:pt x="2755732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557326" y="0"/>
                  </a:lnTo>
                  <a:lnTo>
                    <a:pt x="2755732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929614" y="869388"/>
            <a:ext cx="6329686" cy="6151225"/>
            <a:chOff x="0" y="0"/>
            <a:chExt cx="8545095" cy="8304172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8400315" cy="8159393"/>
            </a:xfrm>
            <a:custGeom>
              <a:avLst/>
              <a:gdLst/>
              <a:ahLst/>
              <a:cxnLst/>
              <a:rect l="l" t="t" r="r" b="b"/>
              <a:pathLst>
                <a:path w="8400315" h="8159393">
                  <a:moveTo>
                    <a:pt x="0" y="0"/>
                  </a:moveTo>
                  <a:lnTo>
                    <a:pt x="8400315" y="0"/>
                  </a:lnTo>
                  <a:lnTo>
                    <a:pt x="8400315" y="8159393"/>
                  </a:lnTo>
                  <a:lnTo>
                    <a:pt x="0" y="8159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545095" cy="8304172"/>
            </a:xfrm>
            <a:custGeom>
              <a:avLst/>
              <a:gdLst/>
              <a:ahLst/>
              <a:cxnLst/>
              <a:rect l="l" t="t" r="r" b="b"/>
              <a:pathLst>
                <a:path w="8545095" h="8304172">
                  <a:moveTo>
                    <a:pt x="8400315" y="8159393"/>
                  </a:moveTo>
                  <a:lnTo>
                    <a:pt x="8545095" y="8159393"/>
                  </a:lnTo>
                  <a:lnTo>
                    <a:pt x="8545095" y="8304172"/>
                  </a:lnTo>
                  <a:lnTo>
                    <a:pt x="8400315" y="8304172"/>
                  </a:lnTo>
                  <a:lnTo>
                    <a:pt x="8400315" y="815939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159393"/>
                  </a:lnTo>
                  <a:lnTo>
                    <a:pt x="0" y="8159393"/>
                  </a:lnTo>
                  <a:lnTo>
                    <a:pt x="0" y="144780"/>
                  </a:lnTo>
                  <a:close/>
                  <a:moveTo>
                    <a:pt x="0" y="8159393"/>
                  </a:moveTo>
                  <a:lnTo>
                    <a:pt x="144780" y="8159393"/>
                  </a:lnTo>
                  <a:lnTo>
                    <a:pt x="144780" y="8304172"/>
                  </a:lnTo>
                  <a:lnTo>
                    <a:pt x="0" y="8304172"/>
                  </a:lnTo>
                  <a:lnTo>
                    <a:pt x="0" y="8159393"/>
                  </a:lnTo>
                  <a:close/>
                  <a:moveTo>
                    <a:pt x="8400315" y="144780"/>
                  </a:moveTo>
                  <a:lnTo>
                    <a:pt x="8545095" y="144780"/>
                  </a:lnTo>
                  <a:lnTo>
                    <a:pt x="8545095" y="8159393"/>
                  </a:lnTo>
                  <a:lnTo>
                    <a:pt x="8400315" y="8159393"/>
                  </a:lnTo>
                  <a:lnTo>
                    <a:pt x="8400315" y="144780"/>
                  </a:lnTo>
                  <a:close/>
                  <a:moveTo>
                    <a:pt x="144780" y="8159393"/>
                  </a:moveTo>
                  <a:lnTo>
                    <a:pt x="8400315" y="8159393"/>
                  </a:lnTo>
                  <a:lnTo>
                    <a:pt x="8400315" y="8304172"/>
                  </a:lnTo>
                  <a:lnTo>
                    <a:pt x="144780" y="8304172"/>
                  </a:lnTo>
                  <a:lnTo>
                    <a:pt x="144780" y="8159393"/>
                  </a:lnTo>
                  <a:close/>
                  <a:moveTo>
                    <a:pt x="8400315" y="0"/>
                  </a:moveTo>
                  <a:lnTo>
                    <a:pt x="8545095" y="0"/>
                  </a:lnTo>
                  <a:lnTo>
                    <a:pt x="8545095" y="144780"/>
                  </a:lnTo>
                  <a:lnTo>
                    <a:pt x="8400315" y="144780"/>
                  </a:lnTo>
                  <a:lnTo>
                    <a:pt x="840031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8400315" y="0"/>
                  </a:lnTo>
                  <a:lnTo>
                    <a:pt x="840031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3268145"/>
            <a:ext cx="9718843" cy="1525807"/>
            <a:chOff x="0" y="0"/>
            <a:chExt cx="22962756" cy="3605030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22817977" cy="3460251"/>
            </a:xfrm>
            <a:custGeom>
              <a:avLst/>
              <a:gdLst/>
              <a:ahLst/>
              <a:cxnLst/>
              <a:rect l="l" t="t" r="r" b="b"/>
              <a:pathLst>
                <a:path w="22817977" h="3460251">
                  <a:moveTo>
                    <a:pt x="0" y="0"/>
                  </a:moveTo>
                  <a:lnTo>
                    <a:pt x="22817977" y="0"/>
                  </a:lnTo>
                  <a:lnTo>
                    <a:pt x="22817977" y="3460251"/>
                  </a:lnTo>
                  <a:lnTo>
                    <a:pt x="0" y="3460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962757" cy="3605030"/>
            </a:xfrm>
            <a:custGeom>
              <a:avLst/>
              <a:gdLst/>
              <a:ahLst/>
              <a:cxnLst/>
              <a:rect l="l" t="t" r="r" b="b"/>
              <a:pathLst>
                <a:path w="22962757" h="3605030">
                  <a:moveTo>
                    <a:pt x="22817976" y="3460250"/>
                  </a:moveTo>
                  <a:lnTo>
                    <a:pt x="22962757" y="3460250"/>
                  </a:lnTo>
                  <a:lnTo>
                    <a:pt x="22962757" y="3605030"/>
                  </a:lnTo>
                  <a:lnTo>
                    <a:pt x="22817976" y="3605030"/>
                  </a:lnTo>
                  <a:lnTo>
                    <a:pt x="22817976" y="346025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460250"/>
                  </a:lnTo>
                  <a:lnTo>
                    <a:pt x="0" y="3460250"/>
                  </a:lnTo>
                  <a:lnTo>
                    <a:pt x="0" y="144780"/>
                  </a:lnTo>
                  <a:close/>
                  <a:moveTo>
                    <a:pt x="0" y="3460250"/>
                  </a:moveTo>
                  <a:lnTo>
                    <a:pt x="144780" y="3460250"/>
                  </a:lnTo>
                  <a:lnTo>
                    <a:pt x="144780" y="3605030"/>
                  </a:lnTo>
                  <a:lnTo>
                    <a:pt x="0" y="3605030"/>
                  </a:lnTo>
                  <a:lnTo>
                    <a:pt x="0" y="3460250"/>
                  </a:lnTo>
                  <a:close/>
                  <a:moveTo>
                    <a:pt x="22817976" y="144780"/>
                  </a:moveTo>
                  <a:lnTo>
                    <a:pt x="22962757" y="144780"/>
                  </a:lnTo>
                  <a:lnTo>
                    <a:pt x="22962757" y="3460250"/>
                  </a:lnTo>
                  <a:lnTo>
                    <a:pt x="22817976" y="3460250"/>
                  </a:lnTo>
                  <a:lnTo>
                    <a:pt x="22817976" y="144780"/>
                  </a:lnTo>
                  <a:close/>
                  <a:moveTo>
                    <a:pt x="144780" y="3460250"/>
                  </a:moveTo>
                  <a:lnTo>
                    <a:pt x="22817976" y="3460250"/>
                  </a:lnTo>
                  <a:lnTo>
                    <a:pt x="22817976" y="3605030"/>
                  </a:lnTo>
                  <a:lnTo>
                    <a:pt x="144780" y="3605030"/>
                  </a:lnTo>
                  <a:lnTo>
                    <a:pt x="144780" y="3460250"/>
                  </a:lnTo>
                  <a:close/>
                  <a:moveTo>
                    <a:pt x="22817976" y="0"/>
                  </a:moveTo>
                  <a:lnTo>
                    <a:pt x="22962757" y="0"/>
                  </a:lnTo>
                  <a:lnTo>
                    <a:pt x="22962757" y="144780"/>
                  </a:lnTo>
                  <a:lnTo>
                    <a:pt x="22817976" y="144780"/>
                  </a:lnTo>
                  <a:lnTo>
                    <a:pt x="2281797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817976" y="0"/>
                  </a:lnTo>
                  <a:lnTo>
                    <a:pt x="2281797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188029" y="1028700"/>
            <a:ext cx="5928939" cy="5921528"/>
          </a:xfrm>
          <a:custGeom>
            <a:avLst/>
            <a:gdLst/>
            <a:ahLst/>
            <a:cxnLst/>
            <a:rect l="l" t="t" r="r" b="b"/>
            <a:pathLst>
              <a:path w="5928939" h="5921528">
                <a:moveTo>
                  <a:pt x="0" y="0"/>
                </a:moveTo>
                <a:lnTo>
                  <a:pt x="5928939" y="0"/>
                </a:lnTo>
                <a:lnTo>
                  <a:pt x="5928939" y="5921528"/>
                </a:lnTo>
                <a:lnTo>
                  <a:pt x="0" y="5921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5" name="Freeform 15"/>
          <p:cNvSpPr/>
          <p:nvPr/>
        </p:nvSpPr>
        <p:spPr>
          <a:xfrm>
            <a:off x="12095099" y="170339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6" name="Group 16"/>
          <p:cNvGrpSpPr/>
          <p:nvPr/>
        </p:nvGrpSpPr>
        <p:grpSpPr>
          <a:xfrm>
            <a:off x="1028700" y="7336715"/>
            <a:ext cx="16230600" cy="2060094"/>
            <a:chOff x="0" y="0"/>
            <a:chExt cx="25833897" cy="3279007"/>
          </a:xfrm>
        </p:grpSpPr>
        <p:sp>
          <p:nvSpPr>
            <p:cNvPr id="17" name="Freeform 17"/>
            <p:cNvSpPr/>
            <p:nvPr/>
          </p:nvSpPr>
          <p:spPr>
            <a:xfrm>
              <a:off x="72390" y="72390"/>
              <a:ext cx="25689117" cy="3134227"/>
            </a:xfrm>
            <a:custGeom>
              <a:avLst/>
              <a:gdLst/>
              <a:ahLst/>
              <a:cxnLst/>
              <a:rect l="l" t="t" r="r" b="b"/>
              <a:pathLst>
                <a:path w="25689117" h="3134227">
                  <a:moveTo>
                    <a:pt x="0" y="0"/>
                  </a:moveTo>
                  <a:lnTo>
                    <a:pt x="25689117" y="0"/>
                  </a:lnTo>
                  <a:lnTo>
                    <a:pt x="25689117" y="3134227"/>
                  </a:lnTo>
                  <a:lnTo>
                    <a:pt x="0" y="3134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25833898" cy="3279007"/>
            </a:xfrm>
            <a:custGeom>
              <a:avLst/>
              <a:gdLst/>
              <a:ahLst/>
              <a:cxnLst/>
              <a:rect l="l" t="t" r="r" b="b"/>
              <a:pathLst>
                <a:path w="25833898" h="3279007">
                  <a:moveTo>
                    <a:pt x="25689117" y="3134227"/>
                  </a:moveTo>
                  <a:lnTo>
                    <a:pt x="25833898" y="3134227"/>
                  </a:lnTo>
                  <a:lnTo>
                    <a:pt x="25833898" y="3279007"/>
                  </a:lnTo>
                  <a:lnTo>
                    <a:pt x="25689117" y="3279007"/>
                  </a:lnTo>
                  <a:lnTo>
                    <a:pt x="25689117" y="313422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134227"/>
                  </a:lnTo>
                  <a:lnTo>
                    <a:pt x="0" y="3134227"/>
                  </a:lnTo>
                  <a:lnTo>
                    <a:pt x="0" y="144780"/>
                  </a:lnTo>
                  <a:close/>
                  <a:moveTo>
                    <a:pt x="0" y="3134227"/>
                  </a:moveTo>
                  <a:lnTo>
                    <a:pt x="144780" y="3134227"/>
                  </a:lnTo>
                  <a:lnTo>
                    <a:pt x="144780" y="3279007"/>
                  </a:lnTo>
                  <a:lnTo>
                    <a:pt x="0" y="3279007"/>
                  </a:lnTo>
                  <a:lnTo>
                    <a:pt x="0" y="3134227"/>
                  </a:lnTo>
                  <a:close/>
                  <a:moveTo>
                    <a:pt x="25689117" y="144780"/>
                  </a:moveTo>
                  <a:lnTo>
                    <a:pt x="25833898" y="144780"/>
                  </a:lnTo>
                  <a:lnTo>
                    <a:pt x="25833898" y="3134227"/>
                  </a:lnTo>
                  <a:lnTo>
                    <a:pt x="25689117" y="3134227"/>
                  </a:lnTo>
                  <a:lnTo>
                    <a:pt x="25689117" y="144780"/>
                  </a:lnTo>
                  <a:close/>
                  <a:moveTo>
                    <a:pt x="144780" y="3134227"/>
                  </a:moveTo>
                  <a:lnTo>
                    <a:pt x="25689117" y="3134227"/>
                  </a:lnTo>
                  <a:lnTo>
                    <a:pt x="25689117" y="3279007"/>
                  </a:lnTo>
                  <a:lnTo>
                    <a:pt x="144780" y="3279007"/>
                  </a:lnTo>
                  <a:lnTo>
                    <a:pt x="144780" y="3134227"/>
                  </a:lnTo>
                  <a:close/>
                  <a:moveTo>
                    <a:pt x="25689117" y="0"/>
                  </a:moveTo>
                  <a:lnTo>
                    <a:pt x="25833898" y="0"/>
                  </a:lnTo>
                  <a:lnTo>
                    <a:pt x="25833898" y="144780"/>
                  </a:lnTo>
                  <a:lnTo>
                    <a:pt x="25689117" y="144780"/>
                  </a:lnTo>
                  <a:lnTo>
                    <a:pt x="256891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5689117" y="0"/>
                  </a:lnTo>
                  <a:lnTo>
                    <a:pt x="256891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320945" y="4995875"/>
            <a:ext cx="5225131" cy="2024738"/>
          </a:xfrm>
          <a:custGeom>
            <a:avLst/>
            <a:gdLst/>
            <a:ahLst/>
            <a:cxnLst/>
            <a:rect l="l" t="t" r="r" b="b"/>
            <a:pathLst>
              <a:path w="5225131" h="2024738">
                <a:moveTo>
                  <a:pt x="0" y="0"/>
                </a:moveTo>
                <a:lnTo>
                  <a:pt x="5225131" y="0"/>
                </a:lnTo>
                <a:lnTo>
                  <a:pt x="5225131" y="2024738"/>
                </a:lnTo>
                <a:lnTo>
                  <a:pt x="0" y="20247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0" name="Freeform 20"/>
          <p:cNvSpPr/>
          <p:nvPr/>
        </p:nvSpPr>
        <p:spPr>
          <a:xfrm>
            <a:off x="4828937" y="1359944"/>
            <a:ext cx="1349706" cy="1317650"/>
          </a:xfrm>
          <a:custGeom>
            <a:avLst/>
            <a:gdLst/>
            <a:ahLst/>
            <a:cxnLst/>
            <a:rect l="l" t="t" r="r" b="b"/>
            <a:pathLst>
              <a:path w="1349706" h="1317650">
                <a:moveTo>
                  <a:pt x="0" y="0"/>
                </a:moveTo>
                <a:lnTo>
                  <a:pt x="1349706" y="0"/>
                </a:lnTo>
                <a:lnTo>
                  <a:pt x="1349706" y="1317651"/>
                </a:lnTo>
                <a:lnTo>
                  <a:pt x="0" y="13176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1" name="Freeform 21"/>
          <p:cNvSpPr/>
          <p:nvPr/>
        </p:nvSpPr>
        <p:spPr>
          <a:xfrm>
            <a:off x="16921952" y="8920952"/>
            <a:ext cx="674696" cy="674696"/>
          </a:xfrm>
          <a:custGeom>
            <a:avLst/>
            <a:gdLst/>
            <a:ahLst/>
            <a:cxnLst/>
            <a:rect l="l" t="t" r="r" b="b"/>
            <a:pathLst>
              <a:path w="674696" h="674696">
                <a:moveTo>
                  <a:pt x="0" y="0"/>
                </a:moveTo>
                <a:lnTo>
                  <a:pt x="674696" y="0"/>
                </a:lnTo>
                <a:lnTo>
                  <a:pt x="674696" y="674696"/>
                </a:lnTo>
                <a:lnTo>
                  <a:pt x="0" y="6746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2" name="TextBox 22"/>
          <p:cNvSpPr txBox="1"/>
          <p:nvPr/>
        </p:nvSpPr>
        <p:spPr>
          <a:xfrm>
            <a:off x="-1665461" y="902635"/>
            <a:ext cx="9529867" cy="228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9"/>
              </a:lnSpc>
            </a:pPr>
            <a:r>
              <a:rPr lang="en-US" sz="11499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IDEA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20945" y="3529416"/>
            <a:ext cx="9134353" cy="874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9"/>
              </a:lnSpc>
            </a:pPr>
            <a:r>
              <a:rPr lang="en-US" sz="251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Predict flood severity in different regions to support early warning systems and disaster management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5509" y="7715465"/>
            <a:ext cx="15753791" cy="257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2"/>
              </a:lnSpc>
            </a:pPr>
            <a:r>
              <a:rPr lang="en-US" sz="29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historical flood data, weather, and river basin information to train a machine learning model that forecasts flood severity at regional and country levels.</a:t>
            </a:r>
          </a:p>
          <a:p>
            <a:pPr algn="l">
              <a:lnSpc>
                <a:spcPts val="4122"/>
              </a:lnSpc>
            </a:pPr>
            <a:endParaRPr lang="en-US" sz="294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22"/>
              </a:lnSpc>
            </a:pPr>
            <a:endParaRPr lang="en-US" sz="294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122"/>
              </a:lnSpc>
            </a:pPr>
            <a:endParaRPr lang="en-US" sz="294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2282" y="491409"/>
            <a:ext cx="17442131" cy="9361491"/>
            <a:chOff x="0" y="0"/>
            <a:chExt cx="4593812" cy="2465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812" cy="2465578"/>
            </a:xfrm>
            <a:custGeom>
              <a:avLst/>
              <a:gdLst/>
              <a:ahLst/>
              <a:cxnLst/>
              <a:rect l="l" t="t" r="r" b="b"/>
              <a:pathLst>
                <a:path w="4593812" h="2465578">
                  <a:moveTo>
                    <a:pt x="0" y="0"/>
                  </a:moveTo>
                  <a:lnTo>
                    <a:pt x="4593812" y="0"/>
                  </a:lnTo>
                  <a:lnTo>
                    <a:pt x="4593812" y="2465578"/>
                  </a:lnTo>
                  <a:lnTo>
                    <a:pt x="0" y="2465578"/>
                  </a:lnTo>
                  <a:close/>
                </a:path>
              </a:pathLst>
            </a:custGeom>
            <a:solidFill>
              <a:srgbClr val="D47D44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593812" cy="2551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3186" y="709219"/>
            <a:ext cx="17021629" cy="8868563"/>
            <a:chOff x="0" y="0"/>
            <a:chExt cx="27702105" cy="14433276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27557325" cy="14288496"/>
            </a:xfrm>
            <a:custGeom>
              <a:avLst/>
              <a:gdLst/>
              <a:ahLst/>
              <a:cxnLst/>
              <a:rect l="l" t="t" r="r" b="b"/>
              <a:pathLst>
                <a:path w="27557325" h="14288496">
                  <a:moveTo>
                    <a:pt x="0" y="0"/>
                  </a:moveTo>
                  <a:lnTo>
                    <a:pt x="27557325" y="0"/>
                  </a:lnTo>
                  <a:lnTo>
                    <a:pt x="27557325" y="14288496"/>
                  </a:lnTo>
                  <a:lnTo>
                    <a:pt x="0" y="14288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EDFE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7702104" cy="14433276"/>
            </a:xfrm>
            <a:custGeom>
              <a:avLst/>
              <a:gdLst/>
              <a:ahLst/>
              <a:cxnLst/>
              <a:rect l="l" t="t" r="r" b="b"/>
              <a:pathLst>
                <a:path w="27702104" h="14433276">
                  <a:moveTo>
                    <a:pt x="27557326" y="14288495"/>
                  </a:moveTo>
                  <a:lnTo>
                    <a:pt x="27702104" y="14288495"/>
                  </a:lnTo>
                  <a:lnTo>
                    <a:pt x="27702104" y="14433276"/>
                  </a:lnTo>
                  <a:lnTo>
                    <a:pt x="27557326" y="14433276"/>
                  </a:lnTo>
                  <a:lnTo>
                    <a:pt x="27557326" y="142884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288495"/>
                  </a:lnTo>
                  <a:lnTo>
                    <a:pt x="0" y="14288495"/>
                  </a:lnTo>
                  <a:lnTo>
                    <a:pt x="0" y="144780"/>
                  </a:lnTo>
                  <a:close/>
                  <a:moveTo>
                    <a:pt x="0" y="14288495"/>
                  </a:moveTo>
                  <a:lnTo>
                    <a:pt x="144780" y="14288495"/>
                  </a:lnTo>
                  <a:lnTo>
                    <a:pt x="144780" y="14433276"/>
                  </a:lnTo>
                  <a:lnTo>
                    <a:pt x="0" y="14433276"/>
                  </a:lnTo>
                  <a:lnTo>
                    <a:pt x="0" y="14288495"/>
                  </a:lnTo>
                  <a:close/>
                  <a:moveTo>
                    <a:pt x="27557326" y="144780"/>
                  </a:moveTo>
                  <a:lnTo>
                    <a:pt x="27702104" y="144780"/>
                  </a:lnTo>
                  <a:lnTo>
                    <a:pt x="27702104" y="14288495"/>
                  </a:lnTo>
                  <a:lnTo>
                    <a:pt x="27557326" y="14288495"/>
                  </a:lnTo>
                  <a:lnTo>
                    <a:pt x="27557326" y="144780"/>
                  </a:lnTo>
                  <a:close/>
                  <a:moveTo>
                    <a:pt x="144780" y="14288495"/>
                  </a:moveTo>
                  <a:lnTo>
                    <a:pt x="27557326" y="14288495"/>
                  </a:lnTo>
                  <a:lnTo>
                    <a:pt x="27557326" y="14433276"/>
                  </a:lnTo>
                  <a:lnTo>
                    <a:pt x="144780" y="14433276"/>
                  </a:lnTo>
                  <a:lnTo>
                    <a:pt x="144780" y="14288495"/>
                  </a:lnTo>
                  <a:close/>
                  <a:moveTo>
                    <a:pt x="27557326" y="0"/>
                  </a:moveTo>
                  <a:lnTo>
                    <a:pt x="27702104" y="0"/>
                  </a:lnTo>
                  <a:lnTo>
                    <a:pt x="27702104" y="144780"/>
                  </a:lnTo>
                  <a:lnTo>
                    <a:pt x="27557326" y="144780"/>
                  </a:lnTo>
                  <a:lnTo>
                    <a:pt x="2755732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557326" y="0"/>
                  </a:lnTo>
                  <a:lnTo>
                    <a:pt x="2755732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3373" y="3925103"/>
            <a:ext cx="5249431" cy="5333197"/>
            <a:chOff x="0" y="0"/>
            <a:chExt cx="9392164" cy="9542036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9247385" cy="9397257"/>
            </a:xfrm>
            <a:custGeom>
              <a:avLst/>
              <a:gdLst/>
              <a:ahLst/>
              <a:cxnLst/>
              <a:rect l="l" t="t" r="r" b="b"/>
              <a:pathLst>
                <a:path w="9247385" h="9397257">
                  <a:moveTo>
                    <a:pt x="0" y="0"/>
                  </a:moveTo>
                  <a:lnTo>
                    <a:pt x="9247385" y="0"/>
                  </a:lnTo>
                  <a:lnTo>
                    <a:pt x="9247385" y="9397257"/>
                  </a:lnTo>
                  <a:lnTo>
                    <a:pt x="0" y="9397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9392164" cy="9542036"/>
            </a:xfrm>
            <a:custGeom>
              <a:avLst/>
              <a:gdLst/>
              <a:ahLst/>
              <a:cxnLst/>
              <a:rect l="l" t="t" r="r" b="b"/>
              <a:pathLst>
                <a:path w="9392164" h="9542036">
                  <a:moveTo>
                    <a:pt x="9247384" y="9397257"/>
                  </a:moveTo>
                  <a:lnTo>
                    <a:pt x="9392164" y="9397257"/>
                  </a:lnTo>
                  <a:lnTo>
                    <a:pt x="9392164" y="9542036"/>
                  </a:lnTo>
                  <a:lnTo>
                    <a:pt x="9247384" y="9542036"/>
                  </a:lnTo>
                  <a:lnTo>
                    <a:pt x="9247384" y="939725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397257"/>
                  </a:lnTo>
                  <a:lnTo>
                    <a:pt x="0" y="9397257"/>
                  </a:lnTo>
                  <a:lnTo>
                    <a:pt x="0" y="144780"/>
                  </a:lnTo>
                  <a:close/>
                  <a:moveTo>
                    <a:pt x="0" y="9397257"/>
                  </a:moveTo>
                  <a:lnTo>
                    <a:pt x="144780" y="9397257"/>
                  </a:lnTo>
                  <a:lnTo>
                    <a:pt x="144780" y="9542036"/>
                  </a:lnTo>
                  <a:lnTo>
                    <a:pt x="0" y="9542036"/>
                  </a:lnTo>
                  <a:lnTo>
                    <a:pt x="0" y="9397257"/>
                  </a:lnTo>
                  <a:close/>
                  <a:moveTo>
                    <a:pt x="9247384" y="144780"/>
                  </a:moveTo>
                  <a:lnTo>
                    <a:pt x="9392164" y="144780"/>
                  </a:lnTo>
                  <a:lnTo>
                    <a:pt x="9392164" y="9397257"/>
                  </a:lnTo>
                  <a:lnTo>
                    <a:pt x="9247384" y="9397257"/>
                  </a:lnTo>
                  <a:lnTo>
                    <a:pt x="9247384" y="144780"/>
                  </a:lnTo>
                  <a:close/>
                  <a:moveTo>
                    <a:pt x="144780" y="9397257"/>
                  </a:moveTo>
                  <a:lnTo>
                    <a:pt x="9247384" y="9397257"/>
                  </a:lnTo>
                  <a:lnTo>
                    <a:pt x="9247384" y="9542036"/>
                  </a:lnTo>
                  <a:lnTo>
                    <a:pt x="144780" y="9542036"/>
                  </a:lnTo>
                  <a:lnTo>
                    <a:pt x="144780" y="9397257"/>
                  </a:lnTo>
                  <a:close/>
                  <a:moveTo>
                    <a:pt x="9247384" y="0"/>
                  </a:moveTo>
                  <a:lnTo>
                    <a:pt x="9392164" y="0"/>
                  </a:lnTo>
                  <a:lnTo>
                    <a:pt x="9392164" y="144780"/>
                  </a:lnTo>
                  <a:lnTo>
                    <a:pt x="9247384" y="144780"/>
                  </a:lnTo>
                  <a:lnTo>
                    <a:pt x="924738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9247384" y="0"/>
                  </a:lnTo>
                  <a:lnTo>
                    <a:pt x="924738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494432" y="2676395"/>
            <a:ext cx="5751051" cy="6443792"/>
            <a:chOff x="0" y="0"/>
            <a:chExt cx="8136482" cy="9116560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7991702" cy="8971780"/>
            </a:xfrm>
            <a:custGeom>
              <a:avLst/>
              <a:gdLst/>
              <a:ahLst/>
              <a:cxnLst/>
              <a:rect l="l" t="t" r="r" b="b"/>
              <a:pathLst>
                <a:path w="7991702" h="8971780">
                  <a:moveTo>
                    <a:pt x="0" y="0"/>
                  </a:moveTo>
                  <a:lnTo>
                    <a:pt x="7991702" y="0"/>
                  </a:lnTo>
                  <a:lnTo>
                    <a:pt x="7991702" y="8971780"/>
                  </a:lnTo>
                  <a:lnTo>
                    <a:pt x="0" y="89717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8136482" cy="9116560"/>
            </a:xfrm>
            <a:custGeom>
              <a:avLst/>
              <a:gdLst/>
              <a:ahLst/>
              <a:cxnLst/>
              <a:rect l="l" t="t" r="r" b="b"/>
              <a:pathLst>
                <a:path w="8136482" h="9116560">
                  <a:moveTo>
                    <a:pt x="7991702" y="8971780"/>
                  </a:moveTo>
                  <a:lnTo>
                    <a:pt x="8136482" y="8971780"/>
                  </a:lnTo>
                  <a:lnTo>
                    <a:pt x="8136482" y="9116560"/>
                  </a:lnTo>
                  <a:lnTo>
                    <a:pt x="7991702" y="9116560"/>
                  </a:lnTo>
                  <a:lnTo>
                    <a:pt x="7991702" y="897178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971780"/>
                  </a:lnTo>
                  <a:lnTo>
                    <a:pt x="0" y="8971780"/>
                  </a:lnTo>
                  <a:lnTo>
                    <a:pt x="0" y="144780"/>
                  </a:lnTo>
                  <a:close/>
                  <a:moveTo>
                    <a:pt x="0" y="8971780"/>
                  </a:moveTo>
                  <a:lnTo>
                    <a:pt x="144780" y="8971780"/>
                  </a:lnTo>
                  <a:lnTo>
                    <a:pt x="144780" y="9116560"/>
                  </a:lnTo>
                  <a:lnTo>
                    <a:pt x="0" y="9116560"/>
                  </a:lnTo>
                  <a:lnTo>
                    <a:pt x="0" y="8971780"/>
                  </a:lnTo>
                  <a:close/>
                  <a:moveTo>
                    <a:pt x="7991702" y="144780"/>
                  </a:moveTo>
                  <a:lnTo>
                    <a:pt x="8136482" y="144780"/>
                  </a:lnTo>
                  <a:lnTo>
                    <a:pt x="8136482" y="8971780"/>
                  </a:lnTo>
                  <a:lnTo>
                    <a:pt x="7991702" y="8971780"/>
                  </a:lnTo>
                  <a:lnTo>
                    <a:pt x="7991702" y="144780"/>
                  </a:lnTo>
                  <a:close/>
                  <a:moveTo>
                    <a:pt x="144780" y="8971780"/>
                  </a:moveTo>
                  <a:lnTo>
                    <a:pt x="7991702" y="8971780"/>
                  </a:lnTo>
                  <a:lnTo>
                    <a:pt x="7991702" y="9116560"/>
                  </a:lnTo>
                  <a:lnTo>
                    <a:pt x="144780" y="9116560"/>
                  </a:lnTo>
                  <a:lnTo>
                    <a:pt x="144780" y="8971780"/>
                  </a:lnTo>
                  <a:close/>
                  <a:moveTo>
                    <a:pt x="7991702" y="0"/>
                  </a:moveTo>
                  <a:lnTo>
                    <a:pt x="8136482" y="0"/>
                  </a:lnTo>
                  <a:lnTo>
                    <a:pt x="8136482" y="144780"/>
                  </a:lnTo>
                  <a:lnTo>
                    <a:pt x="7991702" y="144780"/>
                  </a:lnTo>
                  <a:lnTo>
                    <a:pt x="799170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7991702" y="0"/>
                  </a:lnTo>
                  <a:lnTo>
                    <a:pt x="799170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4" name="Freeform 14"/>
          <p:cNvSpPr/>
          <p:nvPr/>
        </p:nvSpPr>
        <p:spPr>
          <a:xfrm>
            <a:off x="6602986" y="3570461"/>
            <a:ext cx="4239494" cy="4239494"/>
          </a:xfrm>
          <a:custGeom>
            <a:avLst/>
            <a:gdLst/>
            <a:ahLst/>
            <a:cxnLst/>
            <a:rect l="l" t="t" r="r" b="b"/>
            <a:pathLst>
              <a:path w="4239494" h="4239494">
                <a:moveTo>
                  <a:pt x="0" y="0"/>
                </a:moveTo>
                <a:lnTo>
                  <a:pt x="4239494" y="0"/>
                </a:lnTo>
                <a:lnTo>
                  <a:pt x="4239494" y="4239494"/>
                </a:lnTo>
                <a:lnTo>
                  <a:pt x="0" y="4239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5" name="Freeform 15"/>
          <p:cNvSpPr/>
          <p:nvPr/>
        </p:nvSpPr>
        <p:spPr>
          <a:xfrm>
            <a:off x="6660465" y="3627940"/>
            <a:ext cx="4124535" cy="4124535"/>
          </a:xfrm>
          <a:custGeom>
            <a:avLst/>
            <a:gdLst/>
            <a:ahLst/>
            <a:cxnLst/>
            <a:rect l="l" t="t" r="r" b="b"/>
            <a:pathLst>
              <a:path w="4124535" h="4124535">
                <a:moveTo>
                  <a:pt x="0" y="0"/>
                </a:moveTo>
                <a:lnTo>
                  <a:pt x="4124535" y="0"/>
                </a:lnTo>
                <a:lnTo>
                  <a:pt x="4124535" y="4124535"/>
                </a:lnTo>
                <a:lnTo>
                  <a:pt x="0" y="41245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6" name="Freeform 16"/>
          <p:cNvSpPr/>
          <p:nvPr/>
        </p:nvSpPr>
        <p:spPr>
          <a:xfrm>
            <a:off x="6380711" y="3786990"/>
            <a:ext cx="4684043" cy="3407641"/>
          </a:xfrm>
          <a:custGeom>
            <a:avLst/>
            <a:gdLst/>
            <a:ahLst/>
            <a:cxnLst/>
            <a:rect l="l" t="t" r="r" b="b"/>
            <a:pathLst>
              <a:path w="4684043" h="3407641">
                <a:moveTo>
                  <a:pt x="0" y="0"/>
                </a:moveTo>
                <a:lnTo>
                  <a:pt x="4684043" y="0"/>
                </a:lnTo>
                <a:lnTo>
                  <a:pt x="4684043" y="3407641"/>
                </a:lnTo>
                <a:lnTo>
                  <a:pt x="0" y="34076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7" name="Freeform 17"/>
          <p:cNvSpPr/>
          <p:nvPr/>
        </p:nvSpPr>
        <p:spPr>
          <a:xfrm>
            <a:off x="12270539" y="3925103"/>
            <a:ext cx="4988761" cy="5333197"/>
          </a:xfrm>
          <a:custGeom>
            <a:avLst/>
            <a:gdLst/>
            <a:ahLst/>
            <a:cxnLst/>
            <a:rect l="l" t="t" r="r" b="b"/>
            <a:pathLst>
              <a:path w="4988761" h="5333197">
                <a:moveTo>
                  <a:pt x="0" y="0"/>
                </a:moveTo>
                <a:lnTo>
                  <a:pt x="4988761" y="0"/>
                </a:lnTo>
                <a:lnTo>
                  <a:pt x="4988761" y="5333197"/>
                </a:lnTo>
                <a:lnTo>
                  <a:pt x="0" y="53331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8" name="Freeform 18"/>
          <p:cNvSpPr/>
          <p:nvPr/>
        </p:nvSpPr>
        <p:spPr>
          <a:xfrm>
            <a:off x="13121881" y="4162909"/>
            <a:ext cx="2596316" cy="2210114"/>
          </a:xfrm>
          <a:custGeom>
            <a:avLst/>
            <a:gdLst/>
            <a:ahLst/>
            <a:cxnLst/>
            <a:rect l="l" t="t" r="r" b="b"/>
            <a:pathLst>
              <a:path w="2596316" h="2210114">
                <a:moveTo>
                  <a:pt x="0" y="0"/>
                </a:moveTo>
                <a:lnTo>
                  <a:pt x="2596316" y="0"/>
                </a:lnTo>
                <a:lnTo>
                  <a:pt x="2596316" y="2210114"/>
                </a:lnTo>
                <a:lnTo>
                  <a:pt x="0" y="22101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9" name="Freeform 19"/>
          <p:cNvSpPr/>
          <p:nvPr/>
        </p:nvSpPr>
        <p:spPr>
          <a:xfrm>
            <a:off x="1041024" y="4158465"/>
            <a:ext cx="4954129" cy="4954129"/>
          </a:xfrm>
          <a:custGeom>
            <a:avLst/>
            <a:gdLst/>
            <a:ahLst/>
            <a:cxnLst/>
            <a:rect l="l" t="t" r="r" b="b"/>
            <a:pathLst>
              <a:path w="4954129" h="4954129">
                <a:moveTo>
                  <a:pt x="0" y="0"/>
                </a:moveTo>
                <a:lnTo>
                  <a:pt x="4954129" y="0"/>
                </a:lnTo>
                <a:lnTo>
                  <a:pt x="4954129" y="4954128"/>
                </a:lnTo>
                <a:lnTo>
                  <a:pt x="0" y="49541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0" name="Freeform 20"/>
          <p:cNvSpPr/>
          <p:nvPr/>
        </p:nvSpPr>
        <p:spPr>
          <a:xfrm>
            <a:off x="16953925" y="8907855"/>
            <a:ext cx="700890" cy="700890"/>
          </a:xfrm>
          <a:custGeom>
            <a:avLst/>
            <a:gdLst/>
            <a:ahLst/>
            <a:cxnLst/>
            <a:rect l="l" t="t" r="r" b="b"/>
            <a:pathLst>
              <a:path w="700890" h="700890">
                <a:moveTo>
                  <a:pt x="0" y="0"/>
                </a:moveTo>
                <a:lnTo>
                  <a:pt x="700889" y="0"/>
                </a:lnTo>
                <a:lnTo>
                  <a:pt x="700889" y="700890"/>
                </a:lnTo>
                <a:lnTo>
                  <a:pt x="0" y="7008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1" name="TextBox 21"/>
          <p:cNvSpPr txBox="1"/>
          <p:nvPr/>
        </p:nvSpPr>
        <p:spPr>
          <a:xfrm>
            <a:off x="893373" y="2523999"/>
            <a:ext cx="5767092" cy="1046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1"/>
              </a:lnSpc>
            </a:pPr>
            <a:r>
              <a:rPr lang="en-US" sz="305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Increasing frequency of floods due to climate change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881" y="942846"/>
            <a:ext cx="16842933" cy="1478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60"/>
              </a:lnSpc>
            </a:pPr>
            <a:r>
              <a:rPr lang="en-US" sz="74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PROBLEM STATEMENT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296541" y="7743280"/>
            <a:ext cx="4172149" cy="111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61"/>
              </a:lnSpc>
            </a:pPr>
            <a:r>
              <a:rPr lang="en-US" sz="318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Billions in damages every year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715750" y="2911338"/>
            <a:ext cx="5408579" cy="125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Delayed warnings lead to high casualties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1293" y="-9659548"/>
            <a:ext cx="20270816" cy="10688248"/>
          </a:xfrm>
          <a:custGeom>
            <a:avLst/>
            <a:gdLst/>
            <a:ahLst/>
            <a:cxnLst/>
            <a:rect l="l" t="t" r="r" b="b"/>
            <a:pathLst>
              <a:path w="20270816" h="10688248">
                <a:moveTo>
                  <a:pt x="0" y="0"/>
                </a:moveTo>
                <a:lnTo>
                  <a:pt x="20270816" y="0"/>
                </a:lnTo>
                <a:lnTo>
                  <a:pt x="20270816" y="10688248"/>
                </a:lnTo>
                <a:lnTo>
                  <a:pt x="0" y="10688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>
            <a:off x="2912774" y="6989820"/>
            <a:ext cx="4694575" cy="1819148"/>
          </a:xfrm>
          <a:custGeom>
            <a:avLst/>
            <a:gdLst/>
            <a:ahLst/>
            <a:cxnLst/>
            <a:rect l="l" t="t" r="r" b="b"/>
            <a:pathLst>
              <a:path w="4694575" h="1819148">
                <a:moveTo>
                  <a:pt x="0" y="0"/>
                </a:moveTo>
                <a:lnTo>
                  <a:pt x="4694574" y="0"/>
                </a:lnTo>
                <a:lnTo>
                  <a:pt x="4694574" y="1819148"/>
                </a:lnTo>
                <a:lnTo>
                  <a:pt x="0" y="1819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>
            <a:off x="11035720" y="2010389"/>
            <a:ext cx="3909060" cy="4114800"/>
          </a:xfrm>
          <a:custGeom>
            <a:avLst/>
            <a:gdLst/>
            <a:ahLst/>
            <a:cxnLst/>
            <a:rect l="l" t="t" r="r" b="b"/>
            <a:pathLst>
              <a:path w="3909060" h="4114800">
                <a:moveTo>
                  <a:pt x="0" y="0"/>
                </a:moveTo>
                <a:lnTo>
                  <a:pt x="3909060" y="0"/>
                </a:lnTo>
                <a:lnTo>
                  <a:pt x="39090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" name="Freeform 5"/>
          <p:cNvSpPr/>
          <p:nvPr/>
        </p:nvSpPr>
        <p:spPr>
          <a:xfrm>
            <a:off x="1028700" y="2733206"/>
            <a:ext cx="10007020" cy="3990299"/>
          </a:xfrm>
          <a:custGeom>
            <a:avLst/>
            <a:gdLst/>
            <a:ahLst/>
            <a:cxnLst/>
            <a:rect l="l" t="t" r="r" b="b"/>
            <a:pathLst>
              <a:path w="10007020" h="3990299">
                <a:moveTo>
                  <a:pt x="0" y="0"/>
                </a:moveTo>
                <a:lnTo>
                  <a:pt x="10007020" y="0"/>
                </a:lnTo>
                <a:lnTo>
                  <a:pt x="10007020" y="3990300"/>
                </a:lnTo>
                <a:lnTo>
                  <a:pt x="0" y="39903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6" name="Freeform 6"/>
          <p:cNvSpPr/>
          <p:nvPr/>
        </p:nvSpPr>
        <p:spPr>
          <a:xfrm>
            <a:off x="17100505" y="9258300"/>
            <a:ext cx="735107" cy="735107"/>
          </a:xfrm>
          <a:custGeom>
            <a:avLst/>
            <a:gdLst/>
            <a:ahLst/>
            <a:cxnLst/>
            <a:rect l="l" t="t" r="r" b="b"/>
            <a:pathLst>
              <a:path w="735107" h="735107">
                <a:moveTo>
                  <a:pt x="0" y="0"/>
                </a:moveTo>
                <a:lnTo>
                  <a:pt x="735107" y="0"/>
                </a:lnTo>
                <a:lnTo>
                  <a:pt x="735107" y="735107"/>
                </a:lnTo>
                <a:lnTo>
                  <a:pt x="0" y="73510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7" name="TextBox 7"/>
          <p:cNvSpPr txBox="1"/>
          <p:nvPr/>
        </p:nvSpPr>
        <p:spPr>
          <a:xfrm>
            <a:off x="1272865" y="1666573"/>
            <a:ext cx="7871135" cy="104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4"/>
              </a:lnSpc>
              <a:spcBef>
                <a:spcPct val="0"/>
              </a:spcBef>
            </a:pPr>
            <a:r>
              <a:rPr lang="en-US" sz="7327">
                <a:solidFill>
                  <a:srgbClr val="3759CF"/>
                </a:solidFill>
                <a:latin typeface="Mulled Wine Season"/>
                <a:ea typeface="Mulled Wine Season"/>
                <a:cs typeface="Mulled Wine Season"/>
                <a:sym typeface="Mulled Wine Season"/>
              </a:rPr>
              <a:t>THE GOAL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90513" y="3233551"/>
            <a:ext cx="9134353" cy="261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 b="1">
                <a:solidFill>
                  <a:srgbClr val="E3F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Predict flood severity in diffHow can we predict and prepare before floods strike?</a:t>
            </a:r>
          </a:p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 b="1">
                <a:solidFill>
                  <a:srgbClr val="E3F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SDG 13: Climate Action</a:t>
            </a:r>
          </a:p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 b="1">
                <a:solidFill>
                  <a:srgbClr val="E3F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SDG 11: Sustainable Cities &amp; Communities</a:t>
            </a:r>
          </a:p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 b="1">
                <a:solidFill>
                  <a:srgbClr val="E3F2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Reent regions to support early warning systems and disaster management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4947" y="7247381"/>
            <a:ext cx="9134353" cy="1298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for Flood Prediction</a:t>
            </a:r>
          </a:p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Inputs: Historical flood data, Climate, Geography</a:t>
            </a:r>
          </a:p>
          <a:p>
            <a:pPr marL="542688" lvl="1" indent="-271344" algn="l">
              <a:lnSpc>
                <a:spcPts val="3519"/>
              </a:lnSpc>
              <a:buFont typeface="Arial"/>
              <a:buChar char="•"/>
            </a:pPr>
            <a:r>
              <a:rPr lang="en-US" sz="251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Output: Predicted severity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2935" y="462755"/>
            <a:ext cx="17442131" cy="9361491"/>
            <a:chOff x="0" y="0"/>
            <a:chExt cx="4593812" cy="2465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812" cy="2465578"/>
            </a:xfrm>
            <a:custGeom>
              <a:avLst/>
              <a:gdLst/>
              <a:ahLst/>
              <a:cxnLst/>
              <a:rect l="l" t="t" r="r" b="b"/>
              <a:pathLst>
                <a:path w="4593812" h="2465578">
                  <a:moveTo>
                    <a:pt x="0" y="0"/>
                  </a:moveTo>
                  <a:lnTo>
                    <a:pt x="4593812" y="0"/>
                  </a:lnTo>
                  <a:lnTo>
                    <a:pt x="4593812" y="2465578"/>
                  </a:lnTo>
                  <a:lnTo>
                    <a:pt x="0" y="2465578"/>
                  </a:lnTo>
                  <a:close/>
                </a:path>
              </a:pathLst>
            </a:custGeom>
            <a:solidFill>
              <a:srgbClr val="2498D4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593812" cy="2551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3186" y="709219"/>
            <a:ext cx="17021629" cy="8868563"/>
            <a:chOff x="0" y="0"/>
            <a:chExt cx="27702105" cy="14433276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27557325" cy="14288496"/>
            </a:xfrm>
            <a:custGeom>
              <a:avLst/>
              <a:gdLst/>
              <a:ahLst/>
              <a:cxnLst/>
              <a:rect l="l" t="t" r="r" b="b"/>
              <a:pathLst>
                <a:path w="27557325" h="14288496">
                  <a:moveTo>
                    <a:pt x="0" y="0"/>
                  </a:moveTo>
                  <a:lnTo>
                    <a:pt x="27557325" y="0"/>
                  </a:lnTo>
                  <a:lnTo>
                    <a:pt x="27557325" y="14288496"/>
                  </a:lnTo>
                  <a:lnTo>
                    <a:pt x="0" y="14288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7D4E8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7702104" cy="14433276"/>
            </a:xfrm>
            <a:custGeom>
              <a:avLst/>
              <a:gdLst/>
              <a:ahLst/>
              <a:cxnLst/>
              <a:rect l="l" t="t" r="r" b="b"/>
              <a:pathLst>
                <a:path w="27702104" h="14433276">
                  <a:moveTo>
                    <a:pt x="27557326" y="14288495"/>
                  </a:moveTo>
                  <a:lnTo>
                    <a:pt x="27702104" y="14288495"/>
                  </a:lnTo>
                  <a:lnTo>
                    <a:pt x="27702104" y="14433276"/>
                  </a:lnTo>
                  <a:lnTo>
                    <a:pt x="27557326" y="14433276"/>
                  </a:lnTo>
                  <a:lnTo>
                    <a:pt x="27557326" y="142884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288495"/>
                  </a:lnTo>
                  <a:lnTo>
                    <a:pt x="0" y="14288495"/>
                  </a:lnTo>
                  <a:lnTo>
                    <a:pt x="0" y="144780"/>
                  </a:lnTo>
                  <a:close/>
                  <a:moveTo>
                    <a:pt x="0" y="14288495"/>
                  </a:moveTo>
                  <a:lnTo>
                    <a:pt x="144780" y="14288495"/>
                  </a:lnTo>
                  <a:lnTo>
                    <a:pt x="144780" y="14433276"/>
                  </a:lnTo>
                  <a:lnTo>
                    <a:pt x="0" y="14433276"/>
                  </a:lnTo>
                  <a:lnTo>
                    <a:pt x="0" y="14288495"/>
                  </a:lnTo>
                  <a:close/>
                  <a:moveTo>
                    <a:pt x="27557326" y="144780"/>
                  </a:moveTo>
                  <a:lnTo>
                    <a:pt x="27702104" y="144780"/>
                  </a:lnTo>
                  <a:lnTo>
                    <a:pt x="27702104" y="14288495"/>
                  </a:lnTo>
                  <a:lnTo>
                    <a:pt x="27557326" y="14288495"/>
                  </a:lnTo>
                  <a:lnTo>
                    <a:pt x="27557326" y="144780"/>
                  </a:lnTo>
                  <a:close/>
                  <a:moveTo>
                    <a:pt x="144780" y="14288495"/>
                  </a:moveTo>
                  <a:lnTo>
                    <a:pt x="27557326" y="14288495"/>
                  </a:lnTo>
                  <a:lnTo>
                    <a:pt x="27557326" y="14433276"/>
                  </a:lnTo>
                  <a:lnTo>
                    <a:pt x="144780" y="14433276"/>
                  </a:lnTo>
                  <a:lnTo>
                    <a:pt x="144780" y="14288495"/>
                  </a:lnTo>
                  <a:close/>
                  <a:moveTo>
                    <a:pt x="27557326" y="0"/>
                  </a:moveTo>
                  <a:lnTo>
                    <a:pt x="27702104" y="0"/>
                  </a:lnTo>
                  <a:lnTo>
                    <a:pt x="27702104" y="144780"/>
                  </a:lnTo>
                  <a:lnTo>
                    <a:pt x="27557326" y="144780"/>
                  </a:lnTo>
                  <a:lnTo>
                    <a:pt x="2755732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557326" y="0"/>
                  </a:lnTo>
                  <a:lnTo>
                    <a:pt x="2755732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1028700"/>
            <a:ext cx="6213602" cy="8229600"/>
            <a:chOff x="0" y="0"/>
            <a:chExt cx="8790891" cy="11643088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8646111" cy="11498308"/>
            </a:xfrm>
            <a:custGeom>
              <a:avLst/>
              <a:gdLst/>
              <a:ahLst/>
              <a:cxnLst/>
              <a:rect l="l" t="t" r="r" b="b"/>
              <a:pathLst>
                <a:path w="8646111" h="11498308">
                  <a:moveTo>
                    <a:pt x="0" y="0"/>
                  </a:moveTo>
                  <a:lnTo>
                    <a:pt x="8646111" y="0"/>
                  </a:lnTo>
                  <a:lnTo>
                    <a:pt x="8646111" y="11498308"/>
                  </a:lnTo>
                  <a:lnTo>
                    <a:pt x="0" y="114983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790891" cy="11643088"/>
            </a:xfrm>
            <a:custGeom>
              <a:avLst/>
              <a:gdLst/>
              <a:ahLst/>
              <a:cxnLst/>
              <a:rect l="l" t="t" r="r" b="b"/>
              <a:pathLst>
                <a:path w="8790891" h="11643088">
                  <a:moveTo>
                    <a:pt x="8646111" y="11498307"/>
                  </a:moveTo>
                  <a:lnTo>
                    <a:pt x="8790891" y="11498307"/>
                  </a:lnTo>
                  <a:lnTo>
                    <a:pt x="8790891" y="11643088"/>
                  </a:lnTo>
                  <a:lnTo>
                    <a:pt x="8646111" y="11643088"/>
                  </a:lnTo>
                  <a:lnTo>
                    <a:pt x="8646111" y="11498307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1498307"/>
                  </a:lnTo>
                  <a:lnTo>
                    <a:pt x="0" y="11498307"/>
                  </a:lnTo>
                  <a:lnTo>
                    <a:pt x="0" y="144780"/>
                  </a:lnTo>
                  <a:close/>
                  <a:moveTo>
                    <a:pt x="0" y="11498307"/>
                  </a:moveTo>
                  <a:lnTo>
                    <a:pt x="144780" y="11498307"/>
                  </a:lnTo>
                  <a:lnTo>
                    <a:pt x="144780" y="11643088"/>
                  </a:lnTo>
                  <a:lnTo>
                    <a:pt x="0" y="11643088"/>
                  </a:lnTo>
                  <a:lnTo>
                    <a:pt x="0" y="11498307"/>
                  </a:lnTo>
                  <a:close/>
                  <a:moveTo>
                    <a:pt x="8646111" y="144780"/>
                  </a:moveTo>
                  <a:lnTo>
                    <a:pt x="8790891" y="144780"/>
                  </a:lnTo>
                  <a:lnTo>
                    <a:pt x="8790891" y="11498307"/>
                  </a:lnTo>
                  <a:lnTo>
                    <a:pt x="8646111" y="11498307"/>
                  </a:lnTo>
                  <a:lnTo>
                    <a:pt x="8646111" y="144780"/>
                  </a:lnTo>
                  <a:close/>
                  <a:moveTo>
                    <a:pt x="144780" y="11498307"/>
                  </a:moveTo>
                  <a:lnTo>
                    <a:pt x="8646111" y="11498307"/>
                  </a:lnTo>
                  <a:lnTo>
                    <a:pt x="8646111" y="11643088"/>
                  </a:lnTo>
                  <a:lnTo>
                    <a:pt x="144780" y="11643088"/>
                  </a:lnTo>
                  <a:lnTo>
                    <a:pt x="144780" y="11498307"/>
                  </a:lnTo>
                  <a:close/>
                  <a:moveTo>
                    <a:pt x="8646111" y="0"/>
                  </a:moveTo>
                  <a:lnTo>
                    <a:pt x="8790891" y="0"/>
                  </a:lnTo>
                  <a:lnTo>
                    <a:pt x="8790891" y="144780"/>
                  </a:lnTo>
                  <a:lnTo>
                    <a:pt x="8646111" y="144780"/>
                  </a:lnTo>
                  <a:lnTo>
                    <a:pt x="864611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8646111" y="0"/>
                  </a:lnTo>
                  <a:lnTo>
                    <a:pt x="864611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16829" y="3341240"/>
            <a:ext cx="5637345" cy="5917060"/>
          </a:xfrm>
          <a:custGeom>
            <a:avLst/>
            <a:gdLst/>
            <a:ahLst/>
            <a:cxnLst/>
            <a:rect l="l" t="t" r="r" b="b"/>
            <a:pathLst>
              <a:path w="5637345" h="5917060">
                <a:moveTo>
                  <a:pt x="0" y="0"/>
                </a:moveTo>
                <a:lnTo>
                  <a:pt x="5637345" y="0"/>
                </a:lnTo>
                <a:lnTo>
                  <a:pt x="5637345" y="5917060"/>
                </a:lnTo>
                <a:lnTo>
                  <a:pt x="0" y="59170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12" name="Group 12"/>
          <p:cNvGrpSpPr/>
          <p:nvPr/>
        </p:nvGrpSpPr>
        <p:grpSpPr>
          <a:xfrm>
            <a:off x="7729433" y="2528067"/>
            <a:ext cx="9529867" cy="5038786"/>
            <a:chOff x="0" y="0"/>
            <a:chExt cx="13482682" cy="7128782"/>
          </a:xfrm>
        </p:grpSpPr>
        <p:sp>
          <p:nvSpPr>
            <p:cNvPr id="13" name="Freeform 13"/>
            <p:cNvSpPr/>
            <p:nvPr/>
          </p:nvSpPr>
          <p:spPr>
            <a:xfrm>
              <a:off x="72390" y="72390"/>
              <a:ext cx="13337902" cy="6984003"/>
            </a:xfrm>
            <a:custGeom>
              <a:avLst/>
              <a:gdLst/>
              <a:ahLst/>
              <a:cxnLst/>
              <a:rect l="l" t="t" r="r" b="b"/>
              <a:pathLst>
                <a:path w="13337902" h="6984003">
                  <a:moveTo>
                    <a:pt x="0" y="0"/>
                  </a:moveTo>
                  <a:lnTo>
                    <a:pt x="13337902" y="0"/>
                  </a:lnTo>
                  <a:lnTo>
                    <a:pt x="13337902" y="6984003"/>
                  </a:lnTo>
                  <a:lnTo>
                    <a:pt x="0" y="69840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13482682" cy="7128782"/>
            </a:xfrm>
            <a:custGeom>
              <a:avLst/>
              <a:gdLst/>
              <a:ahLst/>
              <a:cxnLst/>
              <a:rect l="l" t="t" r="r" b="b"/>
              <a:pathLst>
                <a:path w="13482682" h="7128782">
                  <a:moveTo>
                    <a:pt x="13337902" y="6984002"/>
                  </a:moveTo>
                  <a:lnTo>
                    <a:pt x="13482682" y="6984002"/>
                  </a:lnTo>
                  <a:lnTo>
                    <a:pt x="13482682" y="7128782"/>
                  </a:lnTo>
                  <a:lnTo>
                    <a:pt x="13337902" y="7128782"/>
                  </a:lnTo>
                  <a:lnTo>
                    <a:pt x="13337902" y="698400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984002"/>
                  </a:lnTo>
                  <a:lnTo>
                    <a:pt x="0" y="6984002"/>
                  </a:lnTo>
                  <a:lnTo>
                    <a:pt x="0" y="144780"/>
                  </a:lnTo>
                  <a:close/>
                  <a:moveTo>
                    <a:pt x="0" y="6984002"/>
                  </a:moveTo>
                  <a:lnTo>
                    <a:pt x="144780" y="6984002"/>
                  </a:lnTo>
                  <a:lnTo>
                    <a:pt x="144780" y="7128782"/>
                  </a:lnTo>
                  <a:lnTo>
                    <a:pt x="0" y="7128782"/>
                  </a:lnTo>
                  <a:lnTo>
                    <a:pt x="0" y="6984002"/>
                  </a:lnTo>
                  <a:close/>
                  <a:moveTo>
                    <a:pt x="13337902" y="144780"/>
                  </a:moveTo>
                  <a:lnTo>
                    <a:pt x="13482682" y="144780"/>
                  </a:lnTo>
                  <a:lnTo>
                    <a:pt x="13482682" y="6984002"/>
                  </a:lnTo>
                  <a:lnTo>
                    <a:pt x="13337902" y="6984002"/>
                  </a:lnTo>
                  <a:lnTo>
                    <a:pt x="13337902" y="144780"/>
                  </a:lnTo>
                  <a:close/>
                  <a:moveTo>
                    <a:pt x="144780" y="6984002"/>
                  </a:moveTo>
                  <a:lnTo>
                    <a:pt x="13337902" y="6984002"/>
                  </a:lnTo>
                  <a:lnTo>
                    <a:pt x="13337902" y="7128782"/>
                  </a:lnTo>
                  <a:lnTo>
                    <a:pt x="144780" y="7128782"/>
                  </a:lnTo>
                  <a:lnTo>
                    <a:pt x="144780" y="6984002"/>
                  </a:lnTo>
                  <a:close/>
                  <a:moveTo>
                    <a:pt x="13337902" y="0"/>
                  </a:moveTo>
                  <a:lnTo>
                    <a:pt x="13482682" y="0"/>
                  </a:lnTo>
                  <a:lnTo>
                    <a:pt x="13482682" y="144780"/>
                  </a:lnTo>
                  <a:lnTo>
                    <a:pt x="13337902" y="144780"/>
                  </a:lnTo>
                  <a:lnTo>
                    <a:pt x="1333790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3337902" y="0"/>
                  </a:lnTo>
                  <a:lnTo>
                    <a:pt x="1333790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5" name="Freeform 15"/>
          <p:cNvSpPr/>
          <p:nvPr/>
        </p:nvSpPr>
        <p:spPr>
          <a:xfrm>
            <a:off x="8487366" y="7111569"/>
            <a:ext cx="6746870" cy="2146731"/>
          </a:xfrm>
          <a:custGeom>
            <a:avLst/>
            <a:gdLst/>
            <a:ahLst/>
            <a:cxnLst/>
            <a:rect l="l" t="t" r="r" b="b"/>
            <a:pathLst>
              <a:path w="6746870" h="2146731">
                <a:moveTo>
                  <a:pt x="0" y="0"/>
                </a:moveTo>
                <a:lnTo>
                  <a:pt x="6746870" y="0"/>
                </a:lnTo>
                <a:lnTo>
                  <a:pt x="6746870" y="2146731"/>
                </a:lnTo>
                <a:lnTo>
                  <a:pt x="0" y="2146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6" name="Freeform 16"/>
          <p:cNvSpPr/>
          <p:nvPr/>
        </p:nvSpPr>
        <p:spPr>
          <a:xfrm>
            <a:off x="15782936" y="2799447"/>
            <a:ext cx="1083586" cy="1083586"/>
          </a:xfrm>
          <a:custGeom>
            <a:avLst/>
            <a:gdLst/>
            <a:ahLst/>
            <a:cxnLst/>
            <a:rect l="l" t="t" r="r" b="b"/>
            <a:pathLst>
              <a:path w="1083586" h="1083586">
                <a:moveTo>
                  <a:pt x="0" y="0"/>
                </a:moveTo>
                <a:lnTo>
                  <a:pt x="1083585" y="0"/>
                </a:lnTo>
                <a:lnTo>
                  <a:pt x="1083585" y="1083585"/>
                </a:lnTo>
                <a:lnTo>
                  <a:pt x="0" y="1083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7" name="Freeform 17"/>
          <p:cNvSpPr/>
          <p:nvPr/>
        </p:nvSpPr>
        <p:spPr>
          <a:xfrm>
            <a:off x="15428377" y="7111569"/>
            <a:ext cx="1792703" cy="1595506"/>
          </a:xfrm>
          <a:custGeom>
            <a:avLst/>
            <a:gdLst/>
            <a:ahLst/>
            <a:cxnLst/>
            <a:rect l="l" t="t" r="r" b="b"/>
            <a:pathLst>
              <a:path w="1792703" h="1595506">
                <a:moveTo>
                  <a:pt x="0" y="0"/>
                </a:moveTo>
                <a:lnTo>
                  <a:pt x="1792703" y="0"/>
                </a:lnTo>
                <a:lnTo>
                  <a:pt x="1792703" y="1595506"/>
                </a:lnTo>
                <a:lnTo>
                  <a:pt x="0" y="15955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8" name="Freeform 18"/>
          <p:cNvSpPr/>
          <p:nvPr/>
        </p:nvSpPr>
        <p:spPr>
          <a:xfrm>
            <a:off x="17011981" y="9181412"/>
            <a:ext cx="642833" cy="642833"/>
          </a:xfrm>
          <a:custGeom>
            <a:avLst/>
            <a:gdLst/>
            <a:ahLst/>
            <a:cxnLst/>
            <a:rect l="l" t="t" r="r" b="b"/>
            <a:pathLst>
              <a:path w="642833" h="642833">
                <a:moveTo>
                  <a:pt x="0" y="0"/>
                </a:moveTo>
                <a:lnTo>
                  <a:pt x="642833" y="0"/>
                </a:lnTo>
                <a:lnTo>
                  <a:pt x="642833" y="642833"/>
                </a:lnTo>
                <a:lnTo>
                  <a:pt x="0" y="6428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9" name="TextBox 19"/>
          <p:cNvSpPr txBox="1"/>
          <p:nvPr/>
        </p:nvSpPr>
        <p:spPr>
          <a:xfrm>
            <a:off x="8129065" y="2980886"/>
            <a:ext cx="9130235" cy="5308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5"/>
              </a:lnSpc>
            </a:pPr>
            <a:r>
              <a:rPr lang="en-US" sz="27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1. Real-time flood severity prediction</a:t>
            </a:r>
          </a:p>
          <a:p>
            <a:pPr algn="l">
              <a:lnSpc>
                <a:spcPts val="3845"/>
              </a:lnSpc>
            </a:pPr>
            <a:endParaRPr lang="en-US" sz="2746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845"/>
              </a:lnSpc>
            </a:pPr>
            <a:r>
              <a:rPr lang="en-US" sz="27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2. Feature importance visualization to identify risk factors</a:t>
            </a:r>
          </a:p>
          <a:p>
            <a:pPr algn="l">
              <a:lnSpc>
                <a:spcPts val="3845"/>
              </a:lnSpc>
            </a:pPr>
            <a:endParaRPr lang="en-US" sz="2746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845"/>
              </a:lnSpc>
            </a:pPr>
            <a:r>
              <a:rPr lang="en-US" sz="27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3. Country-level heatmaps for predicted severity</a:t>
            </a:r>
          </a:p>
          <a:p>
            <a:pPr algn="l">
              <a:lnSpc>
                <a:spcPts val="3845"/>
              </a:lnSpc>
            </a:pPr>
            <a:endParaRPr lang="en-US" sz="2746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845"/>
              </a:lnSpc>
            </a:pPr>
            <a:r>
              <a:rPr lang="en-US" sz="2746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4. Alert system for high-risk regions</a:t>
            </a:r>
          </a:p>
          <a:p>
            <a:pPr algn="l">
              <a:lnSpc>
                <a:spcPts val="3845"/>
              </a:lnSpc>
            </a:pPr>
            <a:endParaRPr lang="en-US" sz="2746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845"/>
              </a:lnSpc>
            </a:pPr>
            <a:endParaRPr lang="en-US" sz="2746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845"/>
              </a:lnSpc>
            </a:pPr>
            <a:endParaRPr lang="en-US" sz="2746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954174" y="904382"/>
            <a:ext cx="9529867" cy="152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KEY FEATURES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02513" y="2533650"/>
            <a:ext cx="13082974" cy="4762500"/>
            <a:chOff x="0" y="0"/>
            <a:chExt cx="3445722" cy="12543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445721" cy="1254321"/>
            </a:xfrm>
            <a:custGeom>
              <a:avLst/>
              <a:gdLst/>
              <a:ahLst/>
              <a:cxnLst/>
              <a:rect l="l" t="t" r="r" b="b"/>
              <a:pathLst>
                <a:path w="3445721" h="1254321">
                  <a:moveTo>
                    <a:pt x="30180" y="0"/>
                  </a:moveTo>
                  <a:lnTo>
                    <a:pt x="3415542" y="0"/>
                  </a:lnTo>
                  <a:cubicBezTo>
                    <a:pt x="3432209" y="0"/>
                    <a:pt x="3445721" y="13512"/>
                    <a:pt x="3445721" y="30180"/>
                  </a:cubicBezTo>
                  <a:lnTo>
                    <a:pt x="3445721" y="1224141"/>
                  </a:lnTo>
                  <a:cubicBezTo>
                    <a:pt x="3445721" y="1232146"/>
                    <a:pt x="3442542" y="1239822"/>
                    <a:pt x="3436882" y="1245482"/>
                  </a:cubicBezTo>
                  <a:cubicBezTo>
                    <a:pt x="3431222" y="1251141"/>
                    <a:pt x="3423546" y="1254321"/>
                    <a:pt x="3415542" y="1254321"/>
                  </a:cubicBezTo>
                  <a:lnTo>
                    <a:pt x="30180" y="1254321"/>
                  </a:lnTo>
                  <a:cubicBezTo>
                    <a:pt x="13512" y="1254321"/>
                    <a:pt x="0" y="1240809"/>
                    <a:pt x="0" y="1224141"/>
                  </a:cubicBezTo>
                  <a:lnTo>
                    <a:pt x="0" y="30180"/>
                  </a:lnTo>
                  <a:cubicBezTo>
                    <a:pt x="0" y="13512"/>
                    <a:pt x="13512" y="0"/>
                    <a:pt x="30180" y="0"/>
                  </a:cubicBezTo>
                  <a:close/>
                </a:path>
              </a:pathLst>
            </a:custGeom>
            <a:solidFill>
              <a:srgbClr val="38ABD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3445722" cy="1216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3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33500" y="2893982"/>
            <a:ext cx="2857500" cy="762000"/>
            <a:chOff x="0" y="0"/>
            <a:chExt cx="537566" cy="1433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7566" cy="143351"/>
            </a:xfrm>
            <a:custGeom>
              <a:avLst/>
              <a:gdLst/>
              <a:ahLst/>
              <a:cxnLst/>
              <a:rect l="l" t="t" r="r" b="b"/>
              <a:pathLst>
                <a:path w="537566" h="143351">
                  <a:moveTo>
                    <a:pt x="71675" y="0"/>
                  </a:moveTo>
                  <a:lnTo>
                    <a:pt x="465891" y="0"/>
                  </a:lnTo>
                  <a:cubicBezTo>
                    <a:pt x="484900" y="0"/>
                    <a:pt x="503131" y="7552"/>
                    <a:pt x="516573" y="20993"/>
                  </a:cubicBezTo>
                  <a:cubicBezTo>
                    <a:pt x="530015" y="34435"/>
                    <a:pt x="537566" y="52666"/>
                    <a:pt x="537566" y="71675"/>
                  </a:cubicBezTo>
                  <a:lnTo>
                    <a:pt x="537566" y="71675"/>
                  </a:lnTo>
                  <a:cubicBezTo>
                    <a:pt x="537566" y="90685"/>
                    <a:pt x="530015" y="108916"/>
                    <a:pt x="516573" y="122358"/>
                  </a:cubicBezTo>
                  <a:cubicBezTo>
                    <a:pt x="503131" y="135799"/>
                    <a:pt x="484900" y="143351"/>
                    <a:pt x="465891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FFCF83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37566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Dataset 1: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3500" y="3943350"/>
            <a:ext cx="2857500" cy="762000"/>
            <a:chOff x="0" y="0"/>
            <a:chExt cx="537566" cy="14335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7566" cy="143351"/>
            </a:xfrm>
            <a:custGeom>
              <a:avLst/>
              <a:gdLst/>
              <a:ahLst/>
              <a:cxnLst/>
              <a:rect l="l" t="t" r="r" b="b"/>
              <a:pathLst>
                <a:path w="537566" h="143351">
                  <a:moveTo>
                    <a:pt x="71675" y="0"/>
                  </a:moveTo>
                  <a:lnTo>
                    <a:pt x="465891" y="0"/>
                  </a:lnTo>
                  <a:cubicBezTo>
                    <a:pt x="484900" y="0"/>
                    <a:pt x="503131" y="7552"/>
                    <a:pt x="516573" y="20993"/>
                  </a:cubicBezTo>
                  <a:cubicBezTo>
                    <a:pt x="530015" y="34435"/>
                    <a:pt x="537566" y="52666"/>
                    <a:pt x="537566" y="71675"/>
                  </a:cubicBezTo>
                  <a:lnTo>
                    <a:pt x="537566" y="71675"/>
                  </a:lnTo>
                  <a:cubicBezTo>
                    <a:pt x="537566" y="90685"/>
                    <a:pt x="530015" y="108916"/>
                    <a:pt x="516573" y="122358"/>
                  </a:cubicBezTo>
                  <a:cubicBezTo>
                    <a:pt x="503131" y="135799"/>
                    <a:pt x="484900" y="143351"/>
                    <a:pt x="465891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FFCF83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37566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Dataset 2: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33500" y="4992718"/>
            <a:ext cx="2857500" cy="762000"/>
            <a:chOff x="0" y="0"/>
            <a:chExt cx="537566" cy="1433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7566" cy="143351"/>
            </a:xfrm>
            <a:custGeom>
              <a:avLst/>
              <a:gdLst/>
              <a:ahLst/>
              <a:cxnLst/>
              <a:rect l="l" t="t" r="r" b="b"/>
              <a:pathLst>
                <a:path w="537566" h="143351">
                  <a:moveTo>
                    <a:pt x="71675" y="0"/>
                  </a:moveTo>
                  <a:lnTo>
                    <a:pt x="465891" y="0"/>
                  </a:lnTo>
                  <a:cubicBezTo>
                    <a:pt x="484900" y="0"/>
                    <a:pt x="503131" y="7552"/>
                    <a:pt x="516573" y="20993"/>
                  </a:cubicBezTo>
                  <a:cubicBezTo>
                    <a:pt x="530015" y="34435"/>
                    <a:pt x="537566" y="52666"/>
                    <a:pt x="537566" y="71675"/>
                  </a:cubicBezTo>
                  <a:lnTo>
                    <a:pt x="537566" y="71675"/>
                  </a:lnTo>
                  <a:cubicBezTo>
                    <a:pt x="537566" y="90685"/>
                    <a:pt x="530015" y="108916"/>
                    <a:pt x="516573" y="122358"/>
                  </a:cubicBezTo>
                  <a:cubicBezTo>
                    <a:pt x="503131" y="135799"/>
                    <a:pt x="484900" y="143351"/>
                    <a:pt x="465891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FFCF83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37566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Dataset 3: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33500" y="6040468"/>
            <a:ext cx="2857500" cy="762000"/>
            <a:chOff x="0" y="0"/>
            <a:chExt cx="537566" cy="14335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7566" cy="143351"/>
            </a:xfrm>
            <a:custGeom>
              <a:avLst/>
              <a:gdLst/>
              <a:ahLst/>
              <a:cxnLst/>
              <a:rect l="l" t="t" r="r" b="b"/>
              <a:pathLst>
                <a:path w="537566" h="143351">
                  <a:moveTo>
                    <a:pt x="71675" y="0"/>
                  </a:moveTo>
                  <a:lnTo>
                    <a:pt x="465891" y="0"/>
                  </a:lnTo>
                  <a:cubicBezTo>
                    <a:pt x="484900" y="0"/>
                    <a:pt x="503131" y="7552"/>
                    <a:pt x="516573" y="20993"/>
                  </a:cubicBezTo>
                  <a:cubicBezTo>
                    <a:pt x="530015" y="34435"/>
                    <a:pt x="537566" y="52666"/>
                    <a:pt x="537566" y="71675"/>
                  </a:cubicBezTo>
                  <a:lnTo>
                    <a:pt x="537566" y="71675"/>
                  </a:lnTo>
                  <a:cubicBezTo>
                    <a:pt x="537566" y="90685"/>
                    <a:pt x="530015" y="108916"/>
                    <a:pt x="516573" y="122358"/>
                  </a:cubicBezTo>
                  <a:cubicBezTo>
                    <a:pt x="503131" y="135799"/>
                    <a:pt x="484900" y="143351"/>
                    <a:pt x="465891" y="143351"/>
                  </a:cubicBezTo>
                  <a:lnTo>
                    <a:pt x="71675" y="143351"/>
                  </a:lnTo>
                  <a:cubicBezTo>
                    <a:pt x="52666" y="143351"/>
                    <a:pt x="34435" y="135799"/>
                    <a:pt x="20993" y="122358"/>
                  </a:cubicBezTo>
                  <a:cubicBezTo>
                    <a:pt x="7552" y="108916"/>
                    <a:pt x="0" y="90685"/>
                    <a:pt x="0" y="71675"/>
                  </a:cubicBezTo>
                  <a:lnTo>
                    <a:pt x="0" y="71675"/>
                  </a:lnTo>
                  <a:cubicBezTo>
                    <a:pt x="0" y="52666"/>
                    <a:pt x="7552" y="34435"/>
                    <a:pt x="20993" y="20993"/>
                  </a:cubicBezTo>
                  <a:cubicBezTo>
                    <a:pt x="34435" y="7552"/>
                    <a:pt x="52666" y="0"/>
                    <a:pt x="71675" y="0"/>
                  </a:cubicBezTo>
                  <a:close/>
                </a:path>
              </a:pathLst>
            </a:custGeom>
            <a:solidFill>
              <a:srgbClr val="FFCF83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37566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9"/>
                </a:lnSpc>
              </a:pPr>
              <a:r>
                <a:rPr lang="en-US" sz="2599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Dataset 4: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72000" y="3033735"/>
            <a:ext cx="10796974" cy="762000"/>
            <a:chOff x="0" y="0"/>
            <a:chExt cx="2031177" cy="14335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31177" cy="143351"/>
            </a:xfrm>
            <a:custGeom>
              <a:avLst/>
              <a:gdLst/>
              <a:ahLst/>
              <a:cxnLst/>
              <a:rect l="l" t="t" r="r" b="b"/>
              <a:pathLst>
                <a:path w="2031177" h="143351">
                  <a:moveTo>
                    <a:pt x="28682" y="0"/>
                  </a:moveTo>
                  <a:lnTo>
                    <a:pt x="2002495" y="0"/>
                  </a:lnTo>
                  <a:cubicBezTo>
                    <a:pt x="2018336" y="0"/>
                    <a:pt x="2031177" y="12841"/>
                    <a:pt x="2031177" y="28682"/>
                  </a:cubicBezTo>
                  <a:lnTo>
                    <a:pt x="2031177" y="114669"/>
                  </a:lnTo>
                  <a:cubicBezTo>
                    <a:pt x="2031177" y="130510"/>
                    <a:pt x="2018336" y="143351"/>
                    <a:pt x="2002495" y="143351"/>
                  </a:cubicBezTo>
                  <a:lnTo>
                    <a:pt x="28682" y="143351"/>
                  </a:lnTo>
                  <a:cubicBezTo>
                    <a:pt x="12841" y="143351"/>
                    <a:pt x="0" y="130510"/>
                    <a:pt x="0" y="114669"/>
                  </a:cubicBezTo>
                  <a:lnTo>
                    <a:pt x="0" y="28682"/>
                  </a:lnTo>
                  <a:cubicBezTo>
                    <a:pt x="0" y="12841"/>
                    <a:pt x="12841" y="0"/>
                    <a:pt x="286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031177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   Historical flood records (deaths, affected population, damage)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0" y="3943350"/>
            <a:ext cx="10796974" cy="762000"/>
            <a:chOff x="0" y="0"/>
            <a:chExt cx="2031177" cy="1433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31177" cy="143351"/>
            </a:xfrm>
            <a:custGeom>
              <a:avLst/>
              <a:gdLst/>
              <a:ahLst/>
              <a:cxnLst/>
              <a:rect l="l" t="t" r="r" b="b"/>
              <a:pathLst>
                <a:path w="2031177" h="143351">
                  <a:moveTo>
                    <a:pt x="28682" y="0"/>
                  </a:moveTo>
                  <a:lnTo>
                    <a:pt x="2002495" y="0"/>
                  </a:lnTo>
                  <a:cubicBezTo>
                    <a:pt x="2018336" y="0"/>
                    <a:pt x="2031177" y="12841"/>
                    <a:pt x="2031177" y="28682"/>
                  </a:cubicBezTo>
                  <a:lnTo>
                    <a:pt x="2031177" y="114669"/>
                  </a:lnTo>
                  <a:cubicBezTo>
                    <a:pt x="2031177" y="130510"/>
                    <a:pt x="2018336" y="143351"/>
                    <a:pt x="2002495" y="143351"/>
                  </a:cubicBezTo>
                  <a:lnTo>
                    <a:pt x="28682" y="143351"/>
                  </a:lnTo>
                  <a:cubicBezTo>
                    <a:pt x="12841" y="143351"/>
                    <a:pt x="0" y="130510"/>
                    <a:pt x="0" y="114669"/>
                  </a:cubicBezTo>
                  <a:lnTo>
                    <a:pt x="0" y="28682"/>
                  </a:lnTo>
                  <a:cubicBezTo>
                    <a:pt x="0" y="12841"/>
                    <a:pt x="12841" y="0"/>
                    <a:pt x="286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031177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    Geographic data (latitude, longitude, river basins)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0" y="4992718"/>
            <a:ext cx="10796974" cy="762000"/>
            <a:chOff x="0" y="0"/>
            <a:chExt cx="2031177" cy="1433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31177" cy="143351"/>
            </a:xfrm>
            <a:custGeom>
              <a:avLst/>
              <a:gdLst/>
              <a:ahLst/>
              <a:cxnLst/>
              <a:rect l="l" t="t" r="r" b="b"/>
              <a:pathLst>
                <a:path w="2031177" h="143351">
                  <a:moveTo>
                    <a:pt x="28682" y="0"/>
                  </a:moveTo>
                  <a:lnTo>
                    <a:pt x="2002495" y="0"/>
                  </a:lnTo>
                  <a:cubicBezTo>
                    <a:pt x="2018336" y="0"/>
                    <a:pt x="2031177" y="12841"/>
                    <a:pt x="2031177" y="28682"/>
                  </a:cubicBezTo>
                  <a:lnTo>
                    <a:pt x="2031177" y="114669"/>
                  </a:lnTo>
                  <a:cubicBezTo>
                    <a:pt x="2031177" y="130510"/>
                    <a:pt x="2018336" y="143351"/>
                    <a:pt x="2002495" y="143351"/>
                  </a:cubicBezTo>
                  <a:lnTo>
                    <a:pt x="28682" y="143351"/>
                  </a:lnTo>
                  <a:cubicBezTo>
                    <a:pt x="12841" y="143351"/>
                    <a:pt x="0" y="130510"/>
                    <a:pt x="0" y="114669"/>
                  </a:cubicBezTo>
                  <a:lnTo>
                    <a:pt x="0" y="28682"/>
                  </a:lnTo>
                  <a:cubicBezTo>
                    <a:pt x="0" y="12841"/>
                    <a:pt x="12841" y="0"/>
                    <a:pt x="286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2031177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    Climate data (precipitation, rainfall, seasonal factors)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0" y="6040468"/>
            <a:ext cx="10796974" cy="762000"/>
            <a:chOff x="0" y="0"/>
            <a:chExt cx="2031177" cy="14335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31177" cy="143351"/>
            </a:xfrm>
            <a:custGeom>
              <a:avLst/>
              <a:gdLst/>
              <a:ahLst/>
              <a:cxnLst/>
              <a:rect l="l" t="t" r="r" b="b"/>
              <a:pathLst>
                <a:path w="2031177" h="143351">
                  <a:moveTo>
                    <a:pt x="28682" y="0"/>
                  </a:moveTo>
                  <a:lnTo>
                    <a:pt x="2002495" y="0"/>
                  </a:lnTo>
                  <a:cubicBezTo>
                    <a:pt x="2018336" y="0"/>
                    <a:pt x="2031177" y="12841"/>
                    <a:pt x="2031177" y="28682"/>
                  </a:cubicBezTo>
                  <a:lnTo>
                    <a:pt x="2031177" y="114669"/>
                  </a:lnTo>
                  <a:cubicBezTo>
                    <a:pt x="2031177" y="130510"/>
                    <a:pt x="2018336" y="143351"/>
                    <a:pt x="2002495" y="143351"/>
                  </a:cubicBezTo>
                  <a:lnTo>
                    <a:pt x="28682" y="143351"/>
                  </a:lnTo>
                  <a:cubicBezTo>
                    <a:pt x="12841" y="143351"/>
                    <a:pt x="0" y="130510"/>
                    <a:pt x="0" y="114669"/>
                  </a:cubicBezTo>
                  <a:lnTo>
                    <a:pt x="0" y="28682"/>
                  </a:lnTo>
                  <a:cubicBezTo>
                    <a:pt x="0" y="12841"/>
                    <a:pt x="12841" y="0"/>
                    <a:pt x="2868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031177" cy="181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     Socioeconomic data (population, infrastructure)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 rot="1472939">
            <a:off x="15295906" y="3867306"/>
            <a:ext cx="779162" cy="1009164"/>
            <a:chOff x="0" y="0"/>
            <a:chExt cx="1038883" cy="1345551"/>
          </a:xfrm>
        </p:grpSpPr>
        <p:grpSp>
          <p:nvGrpSpPr>
            <p:cNvPr id="30" name="Group 30"/>
            <p:cNvGrpSpPr/>
            <p:nvPr/>
          </p:nvGrpSpPr>
          <p:grpSpPr>
            <a:xfrm rot="-10800000">
              <a:off x="125534" y="84426"/>
              <a:ext cx="787815" cy="1261125"/>
              <a:chOff x="0" y="0"/>
              <a:chExt cx="812800" cy="130112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092" y="0"/>
                <a:ext cx="800617" cy="1301121"/>
              </a:xfrm>
              <a:custGeom>
                <a:avLst/>
                <a:gdLst/>
                <a:ahLst/>
                <a:cxnLst/>
                <a:rect l="l" t="t" r="r" b="b"/>
                <a:pathLst>
                  <a:path w="800617" h="1301121">
                    <a:moveTo>
                      <a:pt x="249751" y="0"/>
                    </a:moveTo>
                    <a:lnTo>
                      <a:pt x="550865" y="0"/>
                    </a:lnTo>
                    <a:cubicBezTo>
                      <a:pt x="581168" y="0"/>
                      <a:pt x="606955" y="22073"/>
                      <a:pt x="611631" y="52013"/>
                    </a:cubicBezTo>
                    <a:lnTo>
                      <a:pt x="798585" y="1249108"/>
                    </a:lnTo>
                    <a:cubicBezTo>
                      <a:pt x="800616" y="1262115"/>
                      <a:pt x="796858" y="1275360"/>
                      <a:pt x="788297" y="1285362"/>
                    </a:cubicBezTo>
                    <a:cubicBezTo>
                      <a:pt x="779736" y="1295363"/>
                      <a:pt x="767230" y="1301121"/>
                      <a:pt x="754065" y="1301121"/>
                    </a:cubicBezTo>
                    <a:lnTo>
                      <a:pt x="46551" y="1301121"/>
                    </a:lnTo>
                    <a:cubicBezTo>
                      <a:pt x="33386" y="1301121"/>
                      <a:pt x="20880" y="1295363"/>
                      <a:pt x="12319" y="1285362"/>
                    </a:cubicBezTo>
                    <a:cubicBezTo>
                      <a:pt x="3758" y="1275360"/>
                      <a:pt x="0" y="1262115"/>
                      <a:pt x="2031" y="1249108"/>
                    </a:cubicBezTo>
                    <a:lnTo>
                      <a:pt x="188985" y="52013"/>
                    </a:lnTo>
                    <a:cubicBezTo>
                      <a:pt x="193661" y="22073"/>
                      <a:pt x="219448" y="0"/>
                      <a:pt x="249751" y="0"/>
                    </a:cubicBezTo>
                    <a:close/>
                  </a:path>
                </a:pathLst>
              </a:custGeom>
              <a:solidFill>
                <a:srgbClr val="ABDCED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27000" y="9525"/>
                <a:ext cx="558800" cy="1291596"/>
              </a:xfrm>
              <a:prstGeom prst="rect">
                <a:avLst/>
              </a:prstGeom>
            </p:spPr>
            <p:txBody>
              <a:bodyPr lIns="86192" tIns="86192" rIns="86192" bIns="86192" rtlCol="0" anchor="ctr"/>
              <a:lstStyle/>
              <a:p>
                <a:pPr algn="ctr">
                  <a:lnSpc>
                    <a:spcPts val="2860"/>
                  </a:lnSpc>
                </a:pPr>
                <a:endParaRPr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 rot="-10800000">
              <a:off x="259526" y="595184"/>
              <a:ext cx="519831" cy="670113"/>
              <a:chOff x="0" y="0"/>
              <a:chExt cx="1009327" cy="130112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62" y="0"/>
                <a:ext cx="996403" cy="1301121"/>
              </a:xfrm>
              <a:custGeom>
                <a:avLst/>
                <a:gdLst/>
                <a:ahLst/>
                <a:cxnLst/>
                <a:rect l="l" t="t" r="r" b="b"/>
                <a:pathLst>
                  <a:path w="996403" h="1301121">
                    <a:moveTo>
                      <a:pt x="252585" y="0"/>
                    </a:moveTo>
                    <a:lnTo>
                      <a:pt x="743818" y="0"/>
                    </a:lnTo>
                    <a:cubicBezTo>
                      <a:pt x="775965" y="0"/>
                      <a:pt x="803322" y="23416"/>
                      <a:pt x="808282" y="55178"/>
                    </a:cubicBezTo>
                    <a:lnTo>
                      <a:pt x="994248" y="1245942"/>
                    </a:lnTo>
                    <a:cubicBezTo>
                      <a:pt x="996403" y="1259741"/>
                      <a:pt x="992415" y="1273793"/>
                      <a:pt x="983334" y="1284403"/>
                    </a:cubicBezTo>
                    <a:cubicBezTo>
                      <a:pt x="974252" y="1295013"/>
                      <a:pt x="960984" y="1301121"/>
                      <a:pt x="947018" y="1301121"/>
                    </a:cubicBezTo>
                    <a:lnTo>
                      <a:pt x="49385" y="1301121"/>
                    </a:lnTo>
                    <a:cubicBezTo>
                      <a:pt x="35419" y="1301121"/>
                      <a:pt x="22151" y="1295013"/>
                      <a:pt x="13070" y="1284403"/>
                    </a:cubicBezTo>
                    <a:cubicBezTo>
                      <a:pt x="3988" y="1273793"/>
                      <a:pt x="0" y="1259741"/>
                      <a:pt x="2155" y="1245942"/>
                    </a:cubicBezTo>
                    <a:lnTo>
                      <a:pt x="188121" y="55178"/>
                    </a:lnTo>
                    <a:cubicBezTo>
                      <a:pt x="193081" y="23416"/>
                      <a:pt x="220438" y="0"/>
                      <a:pt x="252585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27000" y="9525"/>
                <a:ext cx="755327" cy="1291596"/>
              </a:xfrm>
              <a:prstGeom prst="rect">
                <a:avLst/>
              </a:prstGeom>
            </p:spPr>
            <p:txBody>
              <a:bodyPr lIns="86192" tIns="86192" rIns="86192" bIns="86192" rtlCol="0" anchor="ctr"/>
              <a:lstStyle/>
              <a:p>
                <a:pPr marL="0" lvl="0" indent="0" algn="ctr">
                  <a:lnSpc>
                    <a:spcPts val="28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0" y="0"/>
              <a:ext cx="1038883" cy="173147"/>
              <a:chOff x="0" y="0"/>
              <a:chExt cx="2438400" cy="4064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2438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438400" h="406400">
                    <a:moveTo>
                      <a:pt x="2235200" y="0"/>
                    </a:moveTo>
                    <a:cubicBezTo>
                      <a:pt x="2347424" y="0"/>
                      <a:pt x="2438400" y="90976"/>
                      <a:pt x="2438400" y="203200"/>
                    </a:cubicBezTo>
                    <a:cubicBezTo>
                      <a:pt x="2438400" y="315424"/>
                      <a:pt x="2347424" y="406400"/>
                      <a:pt x="22352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786A5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9525"/>
                <a:ext cx="2438400" cy="396875"/>
              </a:xfrm>
              <a:prstGeom prst="rect">
                <a:avLst/>
              </a:prstGeom>
            </p:spPr>
            <p:txBody>
              <a:bodyPr lIns="86192" tIns="86192" rIns="86192" bIns="86192" rtlCol="0" anchor="ctr"/>
              <a:lstStyle/>
              <a:p>
                <a:pPr algn="ctr">
                  <a:lnSpc>
                    <a:spcPts val="2860"/>
                  </a:lnSpc>
                </a:pPr>
                <a:endParaRPr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437825" y="199515"/>
              <a:ext cx="239833" cy="1027856"/>
            </a:xfrm>
            <a:custGeom>
              <a:avLst/>
              <a:gdLst/>
              <a:ahLst/>
              <a:cxnLst/>
              <a:rect l="l" t="t" r="r" b="b"/>
              <a:pathLst>
                <a:path w="239833" h="1027856">
                  <a:moveTo>
                    <a:pt x="0" y="0"/>
                  </a:moveTo>
                  <a:lnTo>
                    <a:pt x="239834" y="0"/>
                  </a:lnTo>
                  <a:lnTo>
                    <a:pt x="239834" y="1027857"/>
                  </a:lnTo>
                  <a:lnTo>
                    <a:pt x="0" y="1027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231806" t="-18808" r="-245244" b="-2144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667000" y="7734300"/>
            <a:ext cx="14287500" cy="1524000"/>
            <a:chOff x="0" y="0"/>
            <a:chExt cx="3762963" cy="40138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762963" cy="401383"/>
            </a:xfrm>
            <a:custGeom>
              <a:avLst/>
              <a:gdLst/>
              <a:ahLst/>
              <a:cxnLst/>
              <a:rect l="l" t="t" r="r" b="b"/>
              <a:pathLst>
                <a:path w="3762963" h="401383">
                  <a:moveTo>
                    <a:pt x="27635" y="0"/>
                  </a:moveTo>
                  <a:lnTo>
                    <a:pt x="3735328" y="0"/>
                  </a:lnTo>
                  <a:cubicBezTo>
                    <a:pt x="3742657" y="0"/>
                    <a:pt x="3749686" y="2912"/>
                    <a:pt x="3754869" y="8094"/>
                  </a:cubicBezTo>
                  <a:cubicBezTo>
                    <a:pt x="3760051" y="13277"/>
                    <a:pt x="3762963" y="20306"/>
                    <a:pt x="3762963" y="27635"/>
                  </a:cubicBezTo>
                  <a:lnTo>
                    <a:pt x="3762963" y="373748"/>
                  </a:lnTo>
                  <a:cubicBezTo>
                    <a:pt x="3762963" y="389010"/>
                    <a:pt x="3750590" y="401383"/>
                    <a:pt x="3735328" y="401383"/>
                  </a:cubicBezTo>
                  <a:lnTo>
                    <a:pt x="27635" y="401383"/>
                  </a:lnTo>
                  <a:cubicBezTo>
                    <a:pt x="12373" y="401383"/>
                    <a:pt x="0" y="389010"/>
                    <a:pt x="0" y="373748"/>
                  </a:cubicBezTo>
                  <a:lnTo>
                    <a:pt x="0" y="27635"/>
                  </a:lnTo>
                  <a:cubicBezTo>
                    <a:pt x="0" y="12373"/>
                    <a:pt x="12373" y="0"/>
                    <a:pt x="27635" y="0"/>
                  </a:cubicBezTo>
                  <a:close/>
                </a:path>
              </a:pathLst>
            </a:custGeom>
            <a:solidFill>
              <a:srgbClr val="38ABD1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3762963" cy="42995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295650" y="7905115"/>
            <a:ext cx="3992074" cy="1238250"/>
            <a:chOff x="0" y="0"/>
            <a:chExt cx="1051410" cy="32612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51410" cy="326123"/>
            </a:xfrm>
            <a:custGeom>
              <a:avLst/>
              <a:gdLst/>
              <a:ahLst/>
              <a:cxnLst/>
              <a:rect l="l" t="t" r="r" b="b"/>
              <a:pathLst>
                <a:path w="1051410" h="326123">
                  <a:moveTo>
                    <a:pt x="58180" y="0"/>
                  </a:moveTo>
                  <a:lnTo>
                    <a:pt x="993231" y="0"/>
                  </a:lnTo>
                  <a:cubicBezTo>
                    <a:pt x="1008661" y="0"/>
                    <a:pt x="1023459" y="6130"/>
                    <a:pt x="1034370" y="17040"/>
                  </a:cubicBezTo>
                  <a:cubicBezTo>
                    <a:pt x="1045281" y="27951"/>
                    <a:pt x="1051410" y="42749"/>
                    <a:pt x="1051410" y="58180"/>
                  </a:cubicBezTo>
                  <a:lnTo>
                    <a:pt x="1051410" y="267944"/>
                  </a:lnTo>
                  <a:cubicBezTo>
                    <a:pt x="1051410" y="300076"/>
                    <a:pt x="1025362" y="326123"/>
                    <a:pt x="993231" y="326123"/>
                  </a:cubicBezTo>
                  <a:lnTo>
                    <a:pt x="58180" y="326123"/>
                  </a:lnTo>
                  <a:cubicBezTo>
                    <a:pt x="26048" y="326123"/>
                    <a:pt x="0" y="300076"/>
                    <a:pt x="0" y="267944"/>
                  </a:cubicBezTo>
                  <a:lnTo>
                    <a:pt x="0" y="58180"/>
                  </a:lnTo>
                  <a:cubicBezTo>
                    <a:pt x="0" y="26048"/>
                    <a:pt x="26048" y="0"/>
                    <a:pt x="581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TH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1051410" cy="354698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33500" y="8162290"/>
            <a:ext cx="1962150" cy="723900"/>
            <a:chOff x="0" y="0"/>
            <a:chExt cx="2616200" cy="965200"/>
          </a:xfrm>
        </p:grpSpPr>
        <p:grpSp>
          <p:nvGrpSpPr>
            <p:cNvPr id="47" name="Group 47"/>
            <p:cNvGrpSpPr/>
            <p:nvPr/>
          </p:nvGrpSpPr>
          <p:grpSpPr>
            <a:xfrm>
              <a:off x="203200" y="203200"/>
              <a:ext cx="2413000" cy="762000"/>
              <a:chOff x="0" y="0"/>
              <a:chExt cx="453945" cy="14335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53945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453945" h="143351">
                    <a:moveTo>
                      <a:pt x="71675" y="0"/>
                    </a:moveTo>
                    <a:lnTo>
                      <a:pt x="382269" y="0"/>
                    </a:lnTo>
                    <a:cubicBezTo>
                      <a:pt x="401279" y="0"/>
                      <a:pt x="419510" y="7552"/>
                      <a:pt x="432951" y="20993"/>
                    </a:cubicBezTo>
                    <a:cubicBezTo>
                      <a:pt x="446393" y="34435"/>
                      <a:pt x="453945" y="52666"/>
                      <a:pt x="453945" y="71675"/>
                    </a:cubicBezTo>
                    <a:lnTo>
                      <a:pt x="453945" y="71675"/>
                    </a:lnTo>
                    <a:cubicBezTo>
                      <a:pt x="453945" y="90685"/>
                      <a:pt x="446393" y="108916"/>
                      <a:pt x="432951" y="122358"/>
                    </a:cubicBezTo>
                    <a:cubicBezTo>
                      <a:pt x="419510" y="135799"/>
                      <a:pt x="401279" y="143351"/>
                      <a:pt x="382269" y="143351"/>
                    </a:cubicBezTo>
                    <a:lnTo>
                      <a:pt x="71675" y="143351"/>
                    </a:lnTo>
                    <a:cubicBezTo>
                      <a:pt x="52666" y="143351"/>
                      <a:pt x="34435" y="135799"/>
                      <a:pt x="20993" y="122358"/>
                    </a:cubicBezTo>
                    <a:cubicBezTo>
                      <a:pt x="7552" y="108916"/>
                      <a:pt x="0" y="90685"/>
                      <a:pt x="0" y="71675"/>
                    </a:cubicBezTo>
                    <a:lnTo>
                      <a:pt x="0" y="71675"/>
                    </a:lnTo>
                    <a:cubicBezTo>
                      <a:pt x="0" y="52666"/>
                      <a:pt x="7552" y="34435"/>
                      <a:pt x="20993" y="20993"/>
                    </a:cubicBezTo>
                    <a:cubicBezTo>
                      <a:pt x="34435" y="7552"/>
                      <a:pt x="52666" y="0"/>
                      <a:pt x="71675" y="0"/>
                    </a:cubicBezTo>
                    <a:close/>
                  </a:path>
                </a:pathLst>
              </a:custGeom>
              <a:solidFill>
                <a:srgbClr val="38ABD1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453945" cy="1719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0" y="0"/>
              <a:ext cx="2413000" cy="762000"/>
              <a:chOff x="0" y="0"/>
              <a:chExt cx="453945" cy="143351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53945" cy="143351"/>
              </a:xfrm>
              <a:custGeom>
                <a:avLst/>
                <a:gdLst/>
                <a:ahLst/>
                <a:cxnLst/>
                <a:rect l="l" t="t" r="r" b="b"/>
                <a:pathLst>
                  <a:path w="453945" h="143351">
                    <a:moveTo>
                      <a:pt x="71675" y="0"/>
                    </a:moveTo>
                    <a:lnTo>
                      <a:pt x="382269" y="0"/>
                    </a:lnTo>
                    <a:cubicBezTo>
                      <a:pt x="401279" y="0"/>
                      <a:pt x="419510" y="7552"/>
                      <a:pt x="432951" y="20993"/>
                    </a:cubicBezTo>
                    <a:cubicBezTo>
                      <a:pt x="446393" y="34435"/>
                      <a:pt x="453945" y="52666"/>
                      <a:pt x="453945" y="71675"/>
                    </a:cubicBezTo>
                    <a:lnTo>
                      <a:pt x="453945" y="71675"/>
                    </a:lnTo>
                    <a:cubicBezTo>
                      <a:pt x="453945" y="90685"/>
                      <a:pt x="446393" y="108916"/>
                      <a:pt x="432951" y="122358"/>
                    </a:cubicBezTo>
                    <a:cubicBezTo>
                      <a:pt x="419510" y="135799"/>
                      <a:pt x="401279" y="143351"/>
                      <a:pt x="382269" y="143351"/>
                    </a:cubicBezTo>
                    <a:lnTo>
                      <a:pt x="71675" y="143351"/>
                    </a:lnTo>
                    <a:cubicBezTo>
                      <a:pt x="52666" y="143351"/>
                      <a:pt x="34435" y="135799"/>
                      <a:pt x="20993" y="122358"/>
                    </a:cubicBezTo>
                    <a:cubicBezTo>
                      <a:pt x="7552" y="108916"/>
                      <a:pt x="0" y="90685"/>
                      <a:pt x="0" y="71675"/>
                    </a:cubicBezTo>
                    <a:lnTo>
                      <a:pt x="0" y="71675"/>
                    </a:lnTo>
                    <a:cubicBezTo>
                      <a:pt x="0" y="52666"/>
                      <a:pt x="7552" y="34435"/>
                      <a:pt x="20993" y="20993"/>
                    </a:cubicBezTo>
                    <a:cubicBezTo>
                      <a:pt x="34435" y="7552"/>
                      <a:pt x="52666" y="0"/>
                      <a:pt x="7167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0" y="-28575"/>
                <a:ext cx="453945" cy="17192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59"/>
                  </a:lnSpc>
                </a:pPr>
                <a:r>
                  <a:rPr lang="en-US" sz="2199" b="1">
                    <a:solidFill>
                      <a:srgbClr val="000001"/>
                    </a:solidFill>
                    <a:latin typeface="Klein Bold"/>
                    <a:ea typeface="Klein Bold"/>
                    <a:cs typeface="Klein Bold"/>
                    <a:sym typeface="Klein Bold"/>
                  </a:rPr>
                  <a:t>Combine</a:t>
                </a:r>
              </a:p>
            </p:txBody>
          </p:sp>
        </p:grpSp>
      </p:grpSp>
      <p:sp>
        <p:nvSpPr>
          <p:cNvPr id="53" name="Freeform 53"/>
          <p:cNvSpPr/>
          <p:nvPr/>
        </p:nvSpPr>
        <p:spPr>
          <a:xfrm>
            <a:off x="4343990" y="476250"/>
            <a:ext cx="1578769" cy="1619250"/>
          </a:xfrm>
          <a:custGeom>
            <a:avLst/>
            <a:gdLst/>
            <a:ahLst/>
            <a:cxnLst/>
            <a:rect l="l" t="t" r="r" b="b"/>
            <a:pathLst>
              <a:path w="1578769" h="1619250">
                <a:moveTo>
                  <a:pt x="0" y="0"/>
                </a:moveTo>
                <a:lnTo>
                  <a:pt x="1578769" y="0"/>
                </a:lnTo>
                <a:lnTo>
                  <a:pt x="1578769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4" name="Freeform 54"/>
          <p:cNvSpPr/>
          <p:nvPr/>
        </p:nvSpPr>
        <p:spPr>
          <a:xfrm>
            <a:off x="1727280" y="6931055"/>
            <a:ext cx="1174591" cy="1102647"/>
          </a:xfrm>
          <a:custGeom>
            <a:avLst/>
            <a:gdLst/>
            <a:ahLst/>
            <a:cxnLst/>
            <a:rect l="l" t="t" r="r" b="b"/>
            <a:pathLst>
              <a:path w="1174591" h="1102647">
                <a:moveTo>
                  <a:pt x="0" y="0"/>
                </a:moveTo>
                <a:lnTo>
                  <a:pt x="1174590" y="0"/>
                </a:lnTo>
                <a:lnTo>
                  <a:pt x="1174590" y="1102648"/>
                </a:lnTo>
                <a:lnTo>
                  <a:pt x="0" y="11026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5" name="Freeform 55"/>
          <p:cNvSpPr/>
          <p:nvPr/>
        </p:nvSpPr>
        <p:spPr>
          <a:xfrm>
            <a:off x="17259300" y="9435826"/>
            <a:ext cx="709635" cy="709635"/>
          </a:xfrm>
          <a:custGeom>
            <a:avLst/>
            <a:gdLst/>
            <a:ahLst/>
            <a:cxnLst/>
            <a:rect l="l" t="t" r="r" b="b"/>
            <a:pathLst>
              <a:path w="709635" h="709635">
                <a:moveTo>
                  <a:pt x="0" y="0"/>
                </a:moveTo>
                <a:lnTo>
                  <a:pt x="709635" y="0"/>
                </a:lnTo>
                <a:lnTo>
                  <a:pt x="709635" y="709635"/>
                </a:lnTo>
                <a:lnTo>
                  <a:pt x="0" y="7096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6" name="TextBox 56"/>
          <p:cNvSpPr txBox="1"/>
          <p:nvPr/>
        </p:nvSpPr>
        <p:spPr>
          <a:xfrm>
            <a:off x="4343990" y="773817"/>
            <a:ext cx="9319220" cy="1321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89"/>
              </a:lnSpc>
              <a:spcBef>
                <a:spcPct val="0"/>
              </a:spcBef>
            </a:pPr>
            <a:r>
              <a:rPr lang="en-US" sz="9172" b="1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DATASET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857825" y="8237448"/>
            <a:ext cx="3134425" cy="545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38"/>
              </a:lnSpc>
            </a:pPr>
            <a:r>
              <a:rPr lang="en-US" sz="1645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rPr>
              <a:t>We combine these four datasets into 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D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629569" y="21549"/>
            <a:ext cx="6658431" cy="10265451"/>
          </a:xfrm>
          <a:custGeom>
            <a:avLst/>
            <a:gdLst/>
            <a:ahLst/>
            <a:cxnLst/>
            <a:rect l="l" t="t" r="r" b="b"/>
            <a:pathLst>
              <a:path w="6658431" h="10265451">
                <a:moveTo>
                  <a:pt x="0" y="0"/>
                </a:moveTo>
                <a:lnTo>
                  <a:pt x="6658431" y="0"/>
                </a:lnTo>
                <a:lnTo>
                  <a:pt x="6658431" y="10265451"/>
                </a:lnTo>
                <a:lnTo>
                  <a:pt x="0" y="102654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4779" t="-207" r="-19713"/>
            </a:stretch>
          </a:blipFill>
        </p:spPr>
        <p:txBody>
          <a:bodyPr/>
          <a:lstStyle/>
          <a:p>
            <a:endParaRPr lang="en-TH"/>
          </a:p>
        </p:txBody>
      </p:sp>
      <p:grpSp>
        <p:nvGrpSpPr>
          <p:cNvPr id="3" name="Group 3"/>
          <p:cNvGrpSpPr/>
          <p:nvPr/>
        </p:nvGrpSpPr>
        <p:grpSpPr>
          <a:xfrm>
            <a:off x="1522476" y="2886160"/>
            <a:ext cx="9525000" cy="5334000"/>
            <a:chOff x="0" y="0"/>
            <a:chExt cx="12700000" cy="71120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2700000" cy="7112000"/>
              <a:chOff x="0" y="0"/>
              <a:chExt cx="2508642" cy="140484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508642" cy="1404840"/>
              </a:xfrm>
              <a:custGeom>
                <a:avLst/>
                <a:gdLst/>
                <a:ahLst/>
                <a:cxnLst/>
                <a:rect l="l" t="t" r="r" b="b"/>
                <a:pathLst>
                  <a:path w="2508642" h="1404840">
                    <a:moveTo>
                      <a:pt x="41453" y="0"/>
                    </a:moveTo>
                    <a:lnTo>
                      <a:pt x="2467189" y="0"/>
                    </a:lnTo>
                    <a:cubicBezTo>
                      <a:pt x="2490083" y="0"/>
                      <a:pt x="2508642" y="18559"/>
                      <a:pt x="2508642" y="41453"/>
                    </a:cubicBezTo>
                    <a:lnTo>
                      <a:pt x="2508642" y="1363387"/>
                    </a:lnTo>
                    <a:cubicBezTo>
                      <a:pt x="2508642" y="1386280"/>
                      <a:pt x="2490083" y="1404840"/>
                      <a:pt x="2467189" y="1404840"/>
                    </a:cubicBezTo>
                    <a:lnTo>
                      <a:pt x="41453" y="1404840"/>
                    </a:lnTo>
                    <a:cubicBezTo>
                      <a:pt x="30459" y="1404840"/>
                      <a:pt x="19915" y="1400472"/>
                      <a:pt x="12141" y="1392698"/>
                    </a:cubicBezTo>
                    <a:cubicBezTo>
                      <a:pt x="4367" y="1384924"/>
                      <a:pt x="0" y="1374381"/>
                      <a:pt x="0" y="1363387"/>
                    </a:cubicBezTo>
                    <a:lnTo>
                      <a:pt x="0" y="41453"/>
                    </a:lnTo>
                    <a:cubicBezTo>
                      <a:pt x="0" y="18559"/>
                      <a:pt x="18559" y="0"/>
                      <a:pt x="4145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TH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2508642" cy="1433415"/>
              </a:xfrm>
              <a:prstGeom prst="rect">
                <a:avLst/>
              </a:prstGeom>
            </p:spPr>
            <p:txBody>
              <a:bodyPr lIns="254000" tIns="254000" rIns="254000" bIns="2540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762000" y="682413"/>
              <a:ext cx="11176000" cy="5709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80"/>
                </a:lnSpc>
              </a:pPr>
              <a:endParaRPr/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 b="1">
                  <a:solidFill>
                    <a:srgbClr val="000001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Data </a:t>
              </a: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collection &amp; preprocessing</a:t>
              </a:r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Exploratory data analysis</a:t>
              </a:r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Feature engineering &amp; encoding</a:t>
              </a:r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Train-test split &amp; model training (Random Forest)</a:t>
              </a:r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Model evaluation (accuracy, confusion matrix)</a:t>
              </a:r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Feature importance &amp; insights</a:t>
              </a:r>
            </a:p>
            <a:p>
              <a:pPr marL="561342" lvl="1" indent="-280671" algn="l">
                <a:lnSpc>
                  <a:spcPts val="3380"/>
                </a:lnSpc>
                <a:buAutoNum type="arabicPeriod"/>
              </a:pPr>
              <a:r>
                <a:rPr lang="en-US" sz="2600">
                  <a:solidFill>
                    <a:srgbClr val="000001"/>
                  </a:solidFill>
                  <a:latin typeface="Klein"/>
                  <a:ea typeface="Klein"/>
                  <a:cs typeface="Klein"/>
                  <a:sym typeface="Klein"/>
                </a:rPr>
                <a:t>Visualization (maps, charts)</a:t>
              </a:r>
            </a:p>
            <a:p>
              <a:pPr algn="l">
                <a:lnSpc>
                  <a:spcPts val="3380"/>
                </a:lnSpc>
              </a:pPr>
              <a:endParaRPr lang="en-US" sz="2600">
                <a:solidFill>
                  <a:srgbClr val="000001"/>
                </a:solidFill>
                <a:latin typeface="Klein"/>
                <a:ea typeface="Klein"/>
                <a:cs typeface="Klein"/>
                <a:sym typeface="Klein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3495760"/>
            <a:ext cx="987552" cy="4114800"/>
          </a:xfrm>
          <a:custGeom>
            <a:avLst/>
            <a:gdLst/>
            <a:ahLst/>
            <a:cxnLst/>
            <a:rect l="l" t="t" r="r" b="b"/>
            <a:pathLst>
              <a:path w="987552" h="4114800">
                <a:moveTo>
                  <a:pt x="0" y="0"/>
                </a:moveTo>
                <a:lnTo>
                  <a:pt x="987552" y="0"/>
                </a:lnTo>
                <a:lnTo>
                  <a:pt x="9875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9" name="Freeform 9"/>
          <p:cNvSpPr/>
          <p:nvPr/>
        </p:nvSpPr>
        <p:spPr>
          <a:xfrm>
            <a:off x="17259300" y="9258300"/>
            <a:ext cx="700969" cy="700969"/>
          </a:xfrm>
          <a:custGeom>
            <a:avLst/>
            <a:gdLst/>
            <a:ahLst/>
            <a:cxnLst/>
            <a:rect l="l" t="t" r="r" b="b"/>
            <a:pathLst>
              <a:path w="700969" h="700969">
                <a:moveTo>
                  <a:pt x="0" y="0"/>
                </a:moveTo>
                <a:lnTo>
                  <a:pt x="700969" y="0"/>
                </a:lnTo>
                <a:lnTo>
                  <a:pt x="700969" y="700969"/>
                </a:lnTo>
                <a:lnTo>
                  <a:pt x="0" y="700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0" name="TextBox 10"/>
          <p:cNvSpPr txBox="1"/>
          <p:nvPr/>
        </p:nvSpPr>
        <p:spPr>
          <a:xfrm>
            <a:off x="1701848" y="1300795"/>
            <a:ext cx="10273875" cy="948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118"/>
              </a:lnSpc>
              <a:spcBef>
                <a:spcPct val="0"/>
              </a:spcBef>
            </a:pPr>
            <a:r>
              <a:rPr lang="en-US" sz="6471" b="1">
                <a:solidFill>
                  <a:srgbClr val="000001"/>
                </a:solidFill>
                <a:latin typeface="Klein Heavy"/>
                <a:ea typeface="Klein Heavy"/>
                <a:cs typeface="Klein Heavy"/>
                <a:sym typeface="Klein Heavy"/>
              </a:rPr>
              <a:t>Roadmap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07906" y="491409"/>
            <a:ext cx="17442131" cy="9361491"/>
            <a:chOff x="0" y="0"/>
            <a:chExt cx="4593812" cy="2465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812" cy="2465578"/>
            </a:xfrm>
            <a:custGeom>
              <a:avLst/>
              <a:gdLst/>
              <a:ahLst/>
              <a:cxnLst/>
              <a:rect l="l" t="t" r="r" b="b"/>
              <a:pathLst>
                <a:path w="4593812" h="2465578">
                  <a:moveTo>
                    <a:pt x="0" y="0"/>
                  </a:moveTo>
                  <a:lnTo>
                    <a:pt x="4593812" y="0"/>
                  </a:lnTo>
                  <a:lnTo>
                    <a:pt x="4593812" y="2465578"/>
                  </a:lnTo>
                  <a:lnTo>
                    <a:pt x="0" y="2465578"/>
                  </a:lnTo>
                  <a:close/>
                </a:path>
              </a:pathLst>
            </a:custGeom>
            <a:solidFill>
              <a:srgbClr val="AFAB4B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593812" cy="2551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157" y="737873"/>
            <a:ext cx="17021629" cy="8868563"/>
            <a:chOff x="0" y="0"/>
            <a:chExt cx="27702105" cy="14433276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27557325" cy="14288496"/>
            </a:xfrm>
            <a:custGeom>
              <a:avLst/>
              <a:gdLst/>
              <a:ahLst/>
              <a:cxnLst/>
              <a:rect l="l" t="t" r="r" b="b"/>
              <a:pathLst>
                <a:path w="27557325" h="14288496">
                  <a:moveTo>
                    <a:pt x="0" y="0"/>
                  </a:moveTo>
                  <a:lnTo>
                    <a:pt x="27557325" y="0"/>
                  </a:lnTo>
                  <a:lnTo>
                    <a:pt x="27557325" y="14288496"/>
                  </a:lnTo>
                  <a:lnTo>
                    <a:pt x="0" y="14288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BDCED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7702104" cy="14433276"/>
            </a:xfrm>
            <a:custGeom>
              <a:avLst/>
              <a:gdLst/>
              <a:ahLst/>
              <a:cxnLst/>
              <a:rect l="l" t="t" r="r" b="b"/>
              <a:pathLst>
                <a:path w="27702104" h="14433276">
                  <a:moveTo>
                    <a:pt x="27557326" y="14288495"/>
                  </a:moveTo>
                  <a:lnTo>
                    <a:pt x="27702104" y="14288495"/>
                  </a:lnTo>
                  <a:lnTo>
                    <a:pt x="27702104" y="14433276"/>
                  </a:lnTo>
                  <a:lnTo>
                    <a:pt x="27557326" y="14433276"/>
                  </a:lnTo>
                  <a:lnTo>
                    <a:pt x="27557326" y="142884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288495"/>
                  </a:lnTo>
                  <a:lnTo>
                    <a:pt x="0" y="14288495"/>
                  </a:lnTo>
                  <a:lnTo>
                    <a:pt x="0" y="144780"/>
                  </a:lnTo>
                  <a:close/>
                  <a:moveTo>
                    <a:pt x="0" y="14288495"/>
                  </a:moveTo>
                  <a:lnTo>
                    <a:pt x="144780" y="14288495"/>
                  </a:lnTo>
                  <a:lnTo>
                    <a:pt x="144780" y="14433276"/>
                  </a:lnTo>
                  <a:lnTo>
                    <a:pt x="0" y="14433276"/>
                  </a:lnTo>
                  <a:lnTo>
                    <a:pt x="0" y="14288495"/>
                  </a:lnTo>
                  <a:close/>
                  <a:moveTo>
                    <a:pt x="27557326" y="144780"/>
                  </a:moveTo>
                  <a:lnTo>
                    <a:pt x="27702104" y="144780"/>
                  </a:lnTo>
                  <a:lnTo>
                    <a:pt x="27702104" y="14288495"/>
                  </a:lnTo>
                  <a:lnTo>
                    <a:pt x="27557326" y="14288495"/>
                  </a:lnTo>
                  <a:lnTo>
                    <a:pt x="27557326" y="144780"/>
                  </a:lnTo>
                  <a:close/>
                  <a:moveTo>
                    <a:pt x="144780" y="14288495"/>
                  </a:moveTo>
                  <a:lnTo>
                    <a:pt x="27557326" y="14288495"/>
                  </a:lnTo>
                  <a:lnTo>
                    <a:pt x="27557326" y="14433276"/>
                  </a:lnTo>
                  <a:lnTo>
                    <a:pt x="144780" y="14433276"/>
                  </a:lnTo>
                  <a:lnTo>
                    <a:pt x="144780" y="14288495"/>
                  </a:lnTo>
                  <a:close/>
                  <a:moveTo>
                    <a:pt x="27557326" y="0"/>
                  </a:moveTo>
                  <a:lnTo>
                    <a:pt x="27702104" y="0"/>
                  </a:lnTo>
                  <a:lnTo>
                    <a:pt x="27702104" y="144780"/>
                  </a:lnTo>
                  <a:lnTo>
                    <a:pt x="27557326" y="144780"/>
                  </a:lnTo>
                  <a:lnTo>
                    <a:pt x="2755732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557326" y="0"/>
                  </a:lnTo>
                  <a:lnTo>
                    <a:pt x="2755732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929823" y="2544624"/>
            <a:ext cx="14598297" cy="6281077"/>
            <a:chOff x="0" y="0"/>
            <a:chExt cx="20653403" cy="8886353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20508624" cy="8741573"/>
            </a:xfrm>
            <a:custGeom>
              <a:avLst/>
              <a:gdLst/>
              <a:ahLst/>
              <a:cxnLst/>
              <a:rect l="l" t="t" r="r" b="b"/>
              <a:pathLst>
                <a:path w="20508624" h="8741573">
                  <a:moveTo>
                    <a:pt x="0" y="0"/>
                  </a:moveTo>
                  <a:lnTo>
                    <a:pt x="20508624" y="0"/>
                  </a:lnTo>
                  <a:lnTo>
                    <a:pt x="20508624" y="8741573"/>
                  </a:lnTo>
                  <a:lnTo>
                    <a:pt x="0" y="8741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0653403" cy="8886353"/>
            </a:xfrm>
            <a:custGeom>
              <a:avLst/>
              <a:gdLst/>
              <a:ahLst/>
              <a:cxnLst/>
              <a:rect l="l" t="t" r="r" b="b"/>
              <a:pathLst>
                <a:path w="20653403" h="8886353">
                  <a:moveTo>
                    <a:pt x="20508624" y="8741573"/>
                  </a:moveTo>
                  <a:lnTo>
                    <a:pt x="20653403" y="8741573"/>
                  </a:lnTo>
                  <a:lnTo>
                    <a:pt x="20653403" y="8886353"/>
                  </a:lnTo>
                  <a:lnTo>
                    <a:pt x="20508624" y="8886353"/>
                  </a:lnTo>
                  <a:lnTo>
                    <a:pt x="20508624" y="874157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741573"/>
                  </a:lnTo>
                  <a:lnTo>
                    <a:pt x="0" y="8741573"/>
                  </a:lnTo>
                  <a:lnTo>
                    <a:pt x="0" y="144780"/>
                  </a:lnTo>
                  <a:close/>
                  <a:moveTo>
                    <a:pt x="0" y="8741573"/>
                  </a:moveTo>
                  <a:lnTo>
                    <a:pt x="144780" y="8741573"/>
                  </a:lnTo>
                  <a:lnTo>
                    <a:pt x="144780" y="8886353"/>
                  </a:lnTo>
                  <a:lnTo>
                    <a:pt x="0" y="8886353"/>
                  </a:lnTo>
                  <a:lnTo>
                    <a:pt x="0" y="8741573"/>
                  </a:lnTo>
                  <a:close/>
                  <a:moveTo>
                    <a:pt x="20508624" y="144780"/>
                  </a:moveTo>
                  <a:lnTo>
                    <a:pt x="20653403" y="144780"/>
                  </a:lnTo>
                  <a:lnTo>
                    <a:pt x="20653403" y="8741573"/>
                  </a:lnTo>
                  <a:lnTo>
                    <a:pt x="20508624" y="8741573"/>
                  </a:lnTo>
                  <a:lnTo>
                    <a:pt x="20508624" y="144780"/>
                  </a:lnTo>
                  <a:close/>
                  <a:moveTo>
                    <a:pt x="144780" y="8741573"/>
                  </a:moveTo>
                  <a:lnTo>
                    <a:pt x="20508624" y="8741573"/>
                  </a:lnTo>
                  <a:lnTo>
                    <a:pt x="20508624" y="8886353"/>
                  </a:lnTo>
                  <a:lnTo>
                    <a:pt x="144780" y="8886353"/>
                  </a:lnTo>
                  <a:lnTo>
                    <a:pt x="144780" y="8741573"/>
                  </a:lnTo>
                  <a:close/>
                  <a:moveTo>
                    <a:pt x="20508624" y="0"/>
                  </a:moveTo>
                  <a:lnTo>
                    <a:pt x="20653403" y="0"/>
                  </a:lnTo>
                  <a:lnTo>
                    <a:pt x="20653403" y="144780"/>
                  </a:lnTo>
                  <a:lnTo>
                    <a:pt x="20508624" y="144780"/>
                  </a:lnTo>
                  <a:lnTo>
                    <a:pt x="2050862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0508624" y="0"/>
                  </a:lnTo>
                  <a:lnTo>
                    <a:pt x="2050862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206799" y="3202312"/>
            <a:ext cx="14615195" cy="4194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88" lvl="1" indent="-431794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Early warnings reduce casualties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63588" lvl="1" indent="-431794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Data-driven disaster management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63588" lvl="1" indent="-431794" algn="l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Efficient allocation of resources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1870871" y="5143500"/>
            <a:ext cx="5844321" cy="4462936"/>
          </a:xfrm>
          <a:custGeom>
            <a:avLst/>
            <a:gdLst/>
            <a:ahLst/>
            <a:cxnLst/>
            <a:rect l="l" t="t" r="r" b="b"/>
            <a:pathLst>
              <a:path w="5844321" h="4462936">
                <a:moveTo>
                  <a:pt x="0" y="0"/>
                </a:moveTo>
                <a:lnTo>
                  <a:pt x="5844322" y="0"/>
                </a:lnTo>
                <a:lnTo>
                  <a:pt x="5844322" y="4462936"/>
                </a:lnTo>
                <a:lnTo>
                  <a:pt x="0" y="4462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3" name="Freeform 13"/>
          <p:cNvSpPr/>
          <p:nvPr/>
        </p:nvSpPr>
        <p:spPr>
          <a:xfrm>
            <a:off x="13024919" y="2900360"/>
            <a:ext cx="3080334" cy="1887405"/>
          </a:xfrm>
          <a:custGeom>
            <a:avLst/>
            <a:gdLst/>
            <a:ahLst/>
            <a:cxnLst/>
            <a:rect l="l" t="t" r="r" b="b"/>
            <a:pathLst>
              <a:path w="3080334" h="1887405">
                <a:moveTo>
                  <a:pt x="0" y="0"/>
                </a:moveTo>
                <a:lnTo>
                  <a:pt x="3080334" y="0"/>
                </a:lnTo>
                <a:lnTo>
                  <a:pt x="3080334" y="1887405"/>
                </a:lnTo>
                <a:lnTo>
                  <a:pt x="0" y="18874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4" name="Freeform 14"/>
          <p:cNvSpPr/>
          <p:nvPr/>
        </p:nvSpPr>
        <p:spPr>
          <a:xfrm>
            <a:off x="17432985" y="9324228"/>
            <a:ext cx="564416" cy="564416"/>
          </a:xfrm>
          <a:custGeom>
            <a:avLst/>
            <a:gdLst/>
            <a:ahLst/>
            <a:cxnLst/>
            <a:rect l="l" t="t" r="r" b="b"/>
            <a:pathLst>
              <a:path w="564416" h="564416">
                <a:moveTo>
                  <a:pt x="0" y="0"/>
                </a:moveTo>
                <a:lnTo>
                  <a:pt x="564415" y="0"/>
                </a:lnTo>
                <a:lnTo>
                  <a:pt x="564415" y="564416"/>
                </a:lnTo>
                <a:lnTo>
                  <a:pt x="0" y="5644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5" name="TextBox 15"/>
          <p:cNvSpPr txBox="1"/>
          <p:nvPr/>
        </p:nvSpPr>
        <p:spPr>
          <a:xfrm>
            <a:off x="3085862" y="1039686"/>
            <a:ext cx="12043749" cy="150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IMPACTS AND BENEFIT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2935" y="462755"/>
            <a:ext cx="17442131" cy="9361491"/>
            <a:chOff x="0" y="0"/>
            <a:chExt cx="4593812" cy="24655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93812" cy="2465578"/>
            </a:xfrm>
            <a:custGeom>
              <a:avLst/>
              <a:gdLst/>
              <a:ahLst/>
              <a:cxnLst/>
              <a:rect l="l" t="t" r="r" b="b"/>
              <a:pathLst>
                <a:path w="4593812" h="2465578">
                  <a:moveTo>
                    <a:pt x="0" y="0"/>
                  </a:moveTo>
                  <a:lnTo>
                    <a:pt x="4593812" y="0"/>
                  </a:lnTo>
                  <a:lnTo>
                    <a:pt x="4593812" y="2465578"/>
                  </a:lnTo>
                  <a:lnTo>
                    <a:pt x="0" y="2465578"/>
                  </a:lnTo>
                  <a:close/>
                </a:path>
              </a:pathLst>
            </a:custGeom>
            <a:solidFill>
              <a:srgbClr val="1D5074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593812" cy="2551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33186" y="709219"/>
            <a:ext cx="17021629" cy="8868563"/>
            <a:chOff x="0" y="0"/>
            <a:chExt cx="27702105" cy="14433276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27557325" cy="14288496"/>
            </a:xfrm>
            <a:custGeom>
              <a:avLst/>
              <a:gdLst/>
              <a:ahLst/>
              <a:cxnLst/>
              <a:rect l="l" t="t" r="r" b="b"/>
              <a:pathLst>
                <a:path w="27557325" h="14288496">
                  <a:moveTo>
                    <a:pt x="0" y="0"/>
                  </a:moveTo>
                  <a:lnTo>
                    <a:pt x="27557325" y="0"/>
                  </a:lnTo>
                  <a:lnTo>
                    <a:pt x="27557325" y="14288496"/>
                  </a:lnTo>
                  <a:lnTo>
                    <a:pt x="0" y="142884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FB2CC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27702104" cy="14433276"/>
            </a:xfrm>
            <a:custGeom>
              <a:avLst/>
              <a:gdLst/>
              <a:ahLst/>
              <a:cxnLst/>
              <a:rect l="l" t="t" r="r" b="b"/>
              <a:pathLst>
                <a:path w="27702104" h="14433276">
                  <a:moveTo>
                    <a:pt x="27557326" y="14288495"/>
                  </a:moveTo>
                  <a:lnTo>
                    <a:pt x="27702104" y="14288495"/>
                  </a:lnTo>
                  <a:lnTo>
                    <a:pt x="27702104" y="14433276"/>
                  </a:lnTo>
                  <a:lnTo>
                    <a:pt x="27557326" y="14433276"/>
                  </a:lnTo>
                  <a:lnTo>
                    <a:pt x="27557326" y="1428849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4288495"/>
                  </a:lnTo>
                  <a:lnTo>
                    <a:pt x="0" y="14288495"/>
                  </a:lnTo>
                  <a:lnTo>
                    <a:pt x="0" y="144780"/>
                  </a:lnTo>
                  <a:close/>
                  <a:moveTo>
                    <a:pt x="0" y="14288495"/>
                  </a:moveTo>
                  <a:lnTo>
                    <a:pt x="144780" y="14288495"/>
                  </a:lnTo>
                  <a:lnTo>
                    <a:pt x="144780" y="14433276"/>
                  </a:lnTo>
                  <a:lnTo>
                    <a:pt x="0" y="14433276"/>
                  </a:lnTo>
                  <a:lnTo>
                    <a:pt x="0" y="14288495"/>
                  </a:lnTo>
                  <a:close/>
                  <a:moveTo>
                    <a:pt x="27557326" y="144780"/>
                  </a:moveTo>
                  <a:lnTo>
                    <a:pt x="27702104" y="144780"/>
                  </a:lnTo>
                  <a:lnTo>
                    <a:pt x="27702104" y="14288495"/>
                  </a:lnTo>
                  <a:lnTo>
                    <a:pt x="27557326" y="14288495"/>
                  </a:lnTo>
                  <a:lnTo>
                    <a:pt x="27557326" y="144780"/>
                  </a:lnTo>
                  <a:close/>
                  <a:moveTo>
                    <a:pt x="144780" y="14288495"/>
                  </a:moveTo>
                  <a:lnTo>
                    <a:pt x="27557326" y="14288495"/>
                  </a:lnTo>
                  <a:lnTo>
                    <a:pt x="27557326" y="14433276"/>
                  </a:lnTo>
                  <a:lnTo>
                    <a:pt x="144780" y="14433276"/>
                  </a:lnTo>
                  <a:lnTo>
                    <a:pt x="144780" y="14288495"/>
                  </a:lnTo>
                  <a:close/>
                  <a:moveTo>
                    <a:pt x="27557326" y="0"/>
                  </a:moveTo>
                  <a:lnTo>
                    <a:pt x="27702104" y="0"/>
                  </a:lnTo>
                  <a:lnTo>
                    <a:pt x="27702104" y="144780"/>
                  </a:lnTo>
                  <a:lnTo>
                    <a:pt x="27557326" y="144780"/>
                  </a:lnTo>
                  <a:lnTo>
                    <a:pt x="2755732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557326" y="0"/>
                  </a:lnTo>
                  <a:lnTo>
                    <a:pt x="2755732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045698" y="1028700"/>
            <a:ext cx="6213602" cy="5005715"/>
            <a:chOff x="0" y="0"/>
            <a:chExt cx="8790891" cy="7081994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8646111" cy="6937215"/>
            </a:xfrm>
            <a:custGeom>
              <a:avLst/>
              <a:gdLst/>
              <a:ahLst/>
              <a:cxnLst/>
              <a:rect l="l" t="t" r="r" b="b"/>
              <a:pathLst>
                <a:path w="8646111" h="6937215">
                  <a:moveTo>
                    <a:pt x="0" y="0"/>
                  </a:moveTo>
                  <a:lnTo>
                    <a:pt x="8646111" y="0"/>
                  </a:lnTo>
                  <a:lnTo>
                    <a:pt x="8646111" y="6937215"/>
                  </a:lnTo>
                  <a:lnTo>
                    <a:pt x="0" y="69372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8790891" cy="7081994"/>
            </a:xfrm>
            <a:custGeom>
              <a:avLst/>
              <a:gdLst/>
              <a:ahLst/>
              <a:cxnLst/>
              <a:rect l="l" t="t" r="r" b="b"/>
              <a:pathLst>
                <a:path w="8790891" h="7081994">
                  <a:moveTo>
                    <a:pt x="8646111" y="6937215"/>
                  </a:moveTo>
                  <a:lnTo>
                    <a:pt x="8790891" y="6937215"/>
                  </a:lnTo>
                  <a:lnTo>
                    <a:pt x="8790891" y="7081994"/>
                  </a:lnTo>
                  <a:lnTo>
                    <a:pt x="8646111" y="7081994"/>
                  </a:lnTo>
                  <a:lnTo>
                    <a:pt x="8646111" y="6937215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6937215"/>
                  </a:lnTo>
                  <a:lnTo>
                    <a:pt x="0" y="6937215"/>
                  </a:lnTo>
                  <a:lnTo>
                    <a:pt x="0" y="144780"/>
                  </a:lnTo>
                  <a:close/>
                  <a:moveTo>
                    <a:pt x="0" y="6937215"/>
                  </a:moveTo>
                  <a:lnTo>
                    <a:pt x="144780" y="6937215"/>
                  </a:lnTo>
                  <a:lnTo>
                    <a:pt x="144780" y="7081994"/>
                  </a:lnTo>
                  <a:lnTo>
                    <a:pt x="0" y="7081994"/>
                  </a:lnTo>
                  <a:lnTo>
                    <a:pt x="0" y="6937215"/>
                  </a:lnTo>
                  <a:close/>
                  <a:moveTo>
                    <a:pt x="8646111" y="144780"/>
                  </a:moveTo>
                  <a:lnTo>
                    <a:pt x="8790891" y="144780"/>
                  </a:lnTo>
                  <a:lnTo>
                    <a:pt x="8790891" y="6937215"/>
                  </a:lnTo>
                  <a:lnTo>
                    <a:pt x="8646111" y="6937215"/>
                  </a:lnTo>
                  <a:lnTo>
                    <a:pt x="8646111" y="144780"/>
                  </a:lnTo>
                  <a:close/>
                  <a:moveTo>
                    <a:pt x="144780" y="6937215"/>
                  </a:moveTo>
                  <a:lnTo>
                    <a:pt x="8646111" y="6937215"/>
                  </a:lnTo>
                  <a:lnTo>
                    <a:pt x="8646111" y="7081994"/>
                  </a:lnTo>
                  <a:lnTo>
                    <a:pt x="144780" y="7081994"/>
                  </a:lnTo>
                  <a:lnTo>
                    <a:pt x="144780" y="6937215"/>
                  </a:lnTo>
                  <a:close/>
                  <a:moveTo>
                    <a:pt x="8646111" y="0"/>
                  </a:moveTo>
                  <a:lnTo>
                    <a:pt x="8790891" y="0"/>
                  </a:lnTo>
                  <a:lnTo>
                    <a:pt x="8790891" y="144780"/>
                  </a:lnTo>
                  <a:lnTo>
                    <a:pt x="8646111" y="144780"/>
                  </a:lnTo>
                  <a:lnTo>
                    <a:pt x="8646111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8646111" y="0"/>
                  </a:lnTo>
                  <a:lnTo>
                    <a:pt x="8646111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6710182"/>
            <a:ext cx="16230600" cy="2548118"/>
            <a:chOff x="0" y="0"/>
            <a:chExt cx="22962756" cy="3605030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22817977" cy="3460251"/>
            </a:xfrm>
            <a:custGeom>
              <a:avLst/>
              <a:gdLst/>
              <a:ahLst/>
              <a:cxnLst/>
              <a:rect l="l" t="t" r="r" b="b"/>
              <a:pathLst>
                <a:path w="22817977" h="3460251">
                  <a:moveTo>
                    <a:pt x="0" y="0"/>
                  </a:moveTo>
                  <a:lnTo>
                    <a:pt x="22817977" y="0"/>
                  </a:lnTo>
                  <a:lnTo>
                    <a:pt x="22817977" y="3460251"/>
                  </a:lnTo>
                  <a:lnTo>
                    <a:pt x="0" y="34602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TH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962757" cy="3605030"/>
            </a:xfrm>
            <a:custGeom>
              <a:avLst/>
              <a:gdLst/>
              <a:ahLst/>
              <a:cxnLst/>
              <a:rect l="l" t="t" r="r" b="b"/>
              <a:pathLst>
                <a:path w="22962757" h="3605030">
                  <a:moveTo>
                    <a:pt x="22817976" y="3460250"/>
                  </a:moveTo>
                  <a:lnTo>
                    <a:pt x="22962757" y="3460250"/>
                  </a:lnTo>
                  <a:lnTo>
                    <a:pt x="22962757" y="3605030"/>
                  </a:lnTo>
                  <a:lnTo>
                    <a:pt x="22817976" y="3605030"/>
                  </a:lnTo>
                  <a:lnTo>
                    <a:pt x="22817976" y="346025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460250"/>
                  </a:lnTo>
                  <a:lnTo>
                    <a:pt x="0" y="3460250"/>
                  </a:lnTo>
                  <a:lnTo>
                    <a:pt x="0" y="144780"/>
                  </a:lnTo>
                  <a:close/>
                  <a:moveTo>
                    <a:pt x="0" y="3460250"/>
                  </a:moveTo>
                  <a:lnTo>
                    <a:pt x="144780" y="3460250"/>
                  </a:lnTo>
                  <a:lnTo>
                    <a:pt x="144780" y="3605030"/>
                  </a:lnTo>
                  <a:lnTo>
                    <a:pt x="0" y="3605030"/>
                  </a:lnTo>
                  <a:lnTo>
                    <a:pt x="0" y="3460250"/>
                  </a:lnTo>
                  <a:close/>
                  <a:moveTo>
                    <a:pt x="22817976" y="144780"/>
                  </a:moveTo>
                  <a:lnTo>
                    <a:pt x="22962757" y="144780"/>
                  </a:lnTo>
                  <a:lnTo>
                    <a:pt x="22962757" y="3460250"/>
                  </a:lnTo>
                  <a:lnTo>
                    <a:pt x="22817976" y="3460250"/>
                  </a:lnTo>
                  <a:lnTo>
                    <a:pt x="22817976" y="144780"/>
                  </a:lnTo>
                  <a:close/>
                  <a:moveTo>
                    <a:pt x="144780" y="3460250"/>
                  </a:moveTo>
                  <a:lnTo>
                    <a:pt x="22817976" y="3460250"/>
                  </a:lnTo>
                  <a:lnTo>
                    <a:pt x="22817976" y="3605030"/>
                  </a:lnTo>
                  <a:lnTo>
                    <a:pt x="144780" y="3605030"/>
                  </a:lnTo>
                  <a:lnTo>
                    <a:pt x="144780" y="3460250"/>
                  </a:lnTo>
                  <a:close/>
                  <a:moveTo>
                    <a:pt x="22817976" y="0"/>
                  </a:moveTo>
                  <a:lnTo>
                    <a:pt x="22962757" y="0"/>
                  </a:lnTo>
                  <a:lnTo>
                    <a:pt x="22962757" y="144780"/>
                  </a:lnTo>
                  <a:lnTo>
                    <a:pt x="22817976" y="144780"/>
                  </a:lnTo>
                  <a:lnTo>
                    <a:pt x="2281797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2817976" y="0"/>
                  </a:lnTo>
                  <a:lnTo>
                    <a:pt x="2281797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TH"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147269" y="1705328"/>
            <a:ext cx="4290701" cy="3652460"/>
          </a:xfrm>
          <a:custGeom>
            <a:avLst/>
            <a:gdLst/>
            <a:ahLst/>
            <a:cxnLst/>
            <a:rect l="l" t="t" r="r" b="b"/>
            <a:pathLst>
              <a:path w="4290701" h="3652460">
                <a:moveTo>
                  <a:pt x="0" y="0"/>
                </a:moveTo>
                <a:lnTo>
                  <a:pt x="4290702" y="0"/>
                </a:lnTo>
                <a:lnTo>
                  <a:pt x="4290702" y="3652459"/>
                </a:lnTo>
                <a:lnTo>
                  <a:pt x="0" y="3652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5" name="Freeform 15"/>
          <p:cNvSpPr/>
          <p:nvPr/>
        </p:nvSpPr>
        <p:spPr>
          <a:xfrm>
            <a:off x="17259300" y="9258300"/>
            <a:ext cx="727812" cy="727812"/>
          </a:xfrm>
          <a:custGeom>
            <a:avLst/>
            <a:gdLst/>
            <a:ahLst/>
            <a:cxnLst/>
            <a:rect l="l" t="t" r="r" b="b"/>
            <a:pathLst>
              <a:path w="727812" h="727812">
                <a:moveTo>
                  <a:pt x="0" y="0"/>
                </a:moveTo>
                <a:lnTo>
                  <a:pt x="727812" y="0"/>
                </a:lnTo>
                <a:lnTo>
                  <a:pt x="727812" y="727812"/>
                </a:lnTo>
                <a:lnTo>
                  <a:pt x="0" y="7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6" name="TextBox 16"/>
          <p:cNvSpPr txBox="1"/>
          <p:nvPr/>
        </p:nvSpPr>
        <p:spPr>
          <a:xfrm>
            <a:off x="1225185" y="1490657"/>
            <a:ext cx="9529867" cy="4327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99"/>
              </a:lnSpc>
            </a:pPr>
            <a:r>
              <a:rPr lang="en-US" sz="11499" b="1">
                <a:solidFill>
                  <a:srgbClr val="000000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DEMO/ MOCKUP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5185" y="7227352"/>
            <a:ext cx="15809346" cy="1437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6516" lvl="1" indent="-448258" algn="l">
              <a:lnSpc>
                <a:spcPts val="5813"/>
              </a:lnSpc>
              <a:buFont typeface="Arial"/>
              <a:buChar char="•"/>
            </a:pPr>
            <a:r>
              <a:rPr lang="en-US" sz="41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Heatmap of predicted severity across regions</a:t>
            </a:r>
          </a:p>
          <a:p>
            <a:pPr marL="896516" lvl="1" indent="-448258" algn="l">
              <a:lnSpc>
                <a:spcPts val="5813"/>
              </a:lnSpc>
              <a:buFont typeface="Arial"/>
              <a:buChar char="•"/>
            </a:pPr>
            <a:r>
              <a:rPr lang="en-US" sz="415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Alerts: High flood risk in Southeast Asia – next 7 days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4ED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725420"/>
            <a:ext cx="18288000" cy="5561580"/>
          </a:xfrm>
          <a:custGeom>
            <a:avLst/>
            <a:gdLst/>
            <a:ahLst/>
            <a:cxnLst/>
            <a:rect l="l" t="t" r="r" b="b"/>
            <a:pathLst>
              <a:path w="18288000" h="5561580">
                <a:moveTo>
                  <a:pt x="0" y="0"/>
                </a:moveTo>
                <a:lnTo>
                  <a:pt x="18288000" y="0"/>
                </a:lnTo>
                <a:lnTo>
                  <a:pt x="18288000" y="5561580"/>
                </a:lnTo>
                <a:lnTo>
                  <a:pt x="0" y="5561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8399" b="-90427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" name="Freeform 3"/>
          <p:cNvSpPr/>
          <p:nvPr/>
        </p:nvSpPr>
        <p:spPr>
          <a:xfrm rot="372128" flipH="1">
            <a:off x="3306336" y="6124951"/>
            <a:ext cx="15979835" cy="6266698"/>
          </a:xfrm>
          <a:custGeom>
            <a:avLst/>
            <a:gdLst/>
            <a:ahLst/>
            <a:cxnLst/>
            <a:rect l="l" t="t" r="r" b="b"/>
            <a:pathLst>
              <a:path w="15979835" h="6266698">
                <a:moveTo>
                  <a:pt x="15979835" y="0"/>
                </a:moveTo>
                <a:lnTo>
                  <a:pt x="0" y="0"/>
                </a:lnTo>
                <a:lnTo>
                  <a:pt x="0" y="6266698"/>
                </a:lnTo>
                <a:lnTo>
                  <a:pt x="15979835" y="6266698"/>
                </a:lnTo>
                <a:lnTo>
                  <a:pt x="1597983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482944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4" name="Freeform 4"/>
          <p:cNvSpPr/>
          <p:nvPr/>
        </p:nvSpPr>
        <p:spPr>
          <a:xfrm>
            <a:off x="-121310" y="1800995"/>
            <a:ext cx="5727219" cy="2519976"/>
          </a:xfrm>
          <a:custGeom>
            <a:avLst/>
            <a:gdLst/>
            <a:ahLst/>
            <a:cxnLst/>
            <a:rect l="l" t="t" r="r" b="b"/>
            <a:pathLst>
              <a:path w="5727219" h="2519976">
                <a:moveTo>
                  <a:pt x="0" y="0"/>
                </a:moveTo>
                <a:lnTo>
                  <a:pt x="5727219" y="0"/>
                </a:lnTo>
                <a:lnTo>
                  <a:pt x="5727219" y="2519977"/>
                </a:lnTo>
                <a:lnTo>
                  <a:pt x="0" y="25199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5" name="Freeform 5"/>
          <p:cNvSpPr/>
          <p:nvPr/>
        </p:nvSpPr>
        <p:spPr>
          <a:xfrm>
            <a:off x="13821510" y="1849901"/>
            <a:ext cx="4947673" cy="3055188"/>
          </a:xfrm>
          <a:custGeom>
            <a:avLst/>
            <a:gdLst/>
            <a:ahLst/>
            <a:cxnLst/>
            <a:rect l="l" t="t" r="r" b="b"/>
            <a:pathLst>
              <a:path w="4947673" h="3055188">
                <a:moveTo>
                  <a:pt x="0" y="0"/>
                </a:moveTo>
                <a:lnTo>
                  <a:pt x="4947674" y="0"/>
                </a:lnTo>
                <a:lnTo>
                  <a:pt x="4947674" y="3055189"/>
                </a:lnTo>
                <a:lnTo>
                  <a:pt x="0" y="3055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6" name="Freeform 6"/>
          <p:cNvSpPr/>
          <p:nvPr/>
        </p:nvSpPr>
        <p:spPr>
          <a:xfrm flipH="1">
            <a:off x="9726179" y="2754029"/>
            <a:ext cx="4903235" cy="1746778"/>
          </a:xfrm>
          <a:custGeom>
            <a:avLst/>
            <a:gdLst/>
            <a:ahLst/>
            <a:cxnLst/>
            <a:rect l="l" t="t" r="r" b="b"/>
            <a:pathLst>
              <a:path w="4903235" h="1746778">
                <a:moveTo>
                  <a:pt x="4903235" y="0"/>
                </a:moveTo>
                <a:lnTo>
                  <a:pt x="0" y="0"/>
                </a:lnTo>
                <a:lnTo>
                  <a:pt x="0" y="1746778"/>
                </a:lnTo>
                <a:lnTo>
                  <a:pt x="4903235" y="1746778"/>
                </a:lnTo>
                <a:lnTo>
                  <a:pt x="49032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7" name="Freeform 7"/>
          <p:cNvSpPr/>
          <p:nvPr/>
        </p:nvSpPr>
        <p:spPr>
          <a:xfrm>
            <a:off x="5648091" y="2115038"/>
            <a:ext cx="4313035" cy="2663299"/>
          </a:xfrm>
          <a:custGeom>
            <a:avLst/>
            <a:gdLst/>
            <a:ahLst/>
            <a:cxnLst/>
            <a:rect l="l" t="t" r="r" b="b"/>
            <a:pathLst>
              <a:path w="4313035" h="2663299">
                <a:moveTo>
                  <a:pt x="0" y="0"/>
                </a:moveTo>
                <a:lnTo>
                  <a:pt x="4313035" y="0"/>
                </a:lnTo>
                <a:lnTo>
                  <a:pt x="4313035" y="2663299"/>
                </a:lnTo>
                <a:lnTo>
                  <a:pt x="0" y="266329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8" name="Freeform 8"/>
          <p:cNvSpPr/>
          <p:nvPr/>
        </p:nvSpPr>
        <p:spPr>
          <a:xfrm>
            <a:off x="472303" y="387518"/>
            <a:ext cx="2542283" cy="1086248"/>
          </a:xfrm>
          <a:custGeom>
            <a:avLst/>
            <a:gdLst/>
            <a:ahLst/>
            <a:cxnLst/>
            <a:rect l="l" t="t" r="r" b="b"/>
            <a:pathLst>
              <a:path w="2542283" h="1086248">
                <a:moveTo>
                  <a:pt x="0" y="0"/>
                </a:moveTo>
                <a:lnTo>
                  <a:pt x="2542283" y="0"/>
                </a:lnTo>
                <a:lnTo>
                  <a:pt x="2542283" y="1086248"/>
                </a:lnTo>
                <a:lnTo>
                  <a:pt x="0" y="108624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9" name="Freeform 9"/>
          <p:cNvSpPr/>
          <p:nvPr/>
        </p:nvSpPr>
        <p:spPr>
          <a:xfrm>
            <a:off x="15444057" y="795155"/>
            <a:ext cx="1615807" cy="1005840"/>
          </a:xfrm>
          <a:custGeom>
            <a:avLst/>
            <a:gdLst/>
            <a:ahLst/>
            <a:cxnLst/>
            <a:rect l="l" t="t" r="r" b="b"/>
            <a:pathLst>
              <a:path w="1615807" h="1005840">
                <a:moveTo>
                  <a:pt x="0" y="0"/>
                </a:moveTo>
                <a:lnTo>
                  <a:pt x="1615807" y="0"/>
                </a:lnTo>
                <a:lnTo>
                  <a:pt x="1615807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0" name="Freeform 10"/>
          <p:cNvSpPr/>
          <p:nvPr/>
        </p:nvSpPr>
        <p:spPr>
          <a:xfrm>
            <a:off x="3917309" y="1690930"/>
            <a:ext cx="1730782" cy="1029028"/>
          </a:xfrm>
          <a:custGeom>
            <a:avLst/>
            <a:gdLst/>
            <a:ahLst/>
            <a:cxnLst/>
            <a:rect l="l" t="t" r="r" b="b"/>
            <a:pathLst>
              <a:path w="1730782" h="1029028">
                <a:moveTo>
                  <a:pt x="0" y="0"/>
                </a:moveTo>
                <a:lnTo>
                  <a:pt x="1730782" y="0"/>
                </a:lnTo>
                <a:lnTo>
                  <a:pt x="1730782" y="1029028"/>
                </a:lnTo>
                <a:lnTo>
                  <a:pt x="0" y="102902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1" name="Freeform 11"/>
          <p:cNvSpPr/>
          <p:nvPr/>
        </p:nvSpPr>
        <p:spPr>
          <a:xfrm>
            <a:off x="0" y="3627418"/>
            <a:ext cx="18288000" cy="1387107"/>
          </a:xfrm>
          <a:custGeom>
            <a:avLst/>
            <a:gdLst/>
            <a:ahLst/>
            <a:cxnLst/>
            <a:rect l="l" t="t" r="r" b="b"/>
            <a:pathLst>
              <a:path w="18288000" h="1387107">
                <a:moveTo>
                  <a:pt x="0" y="0"/>
                </a:moveTo>
                <a:lnTo>
                  <a:pt x="18288000" y="0"/>
                </a:lnTo>
                <a:lnTo>
                  <a:pt x="18288000" y="1387107"/>
                </a:lnTo>
                <a:lnTo>
                  <a:pt x="0" y="13871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b="-35962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2" name="Freeform 12"/>
          <p:cNvSpPr/>
          <p:nvPr/>
        </p:nvSpPr>
        <p:spPr>
          <a:xfrm rot="-10800000">
            <a:off x="0" y="4439070"/>
            <a:ext cx="18288000" cy="1387107"/>
          </a:xfrm>
          <a:custGeom>
            <a:avLst/>
            <a:gdLst/>
            <a:ahLst/>
            <a:cxnLst/>
            <a:rect l="l" t="t" r="r" b="b"/>
            <a:pathLst>
              <a:path w="18288000" h="1387107">
                <a:moveTo>
                  <a:pt x="0" y="0"/>
                </a:moveTo>
                <a:lnTo>
                  <a:pt x="18288000" y="0"/>
                </a:lnTo>
                <a:lnTo>
                  <a:pt x="18288000" y="1387107"/>
                </a:lnTo>
                <a:lnTo>
                  <a:pt x="0" y="138710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b="-35962"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3" name="Freeform 13"/>
          <p:cNvSpPr/>
          <p:nvPr/>
        </p:nvSpPr>
        <p:spPr>
          <a:xfrm>
            <a:off x="15170497" y="2205444"/>
            <a:ext cx="1641929" cy="2759545"/>
          </a:xfrm>
          <a:custGeom>
            <a:avLst/>
            <a:gdLst/>
            <a:ahLst/>
            <a:cxnLst/>
            <a:rect l="l" t="t" r="r" b="b"/>
            <a:pathLst>
              <a:path w="1641929" h="2759545">
                <a:moveTo>
                  <a:pt x="0" y="0"/>
                </a:moveTo>
                <a:lnTo>
                  <a:pt x="1641930" y="0"/>
                </a:lnTo>
                <a:lnTo>
                  <a:pt x="1641930" y="2759545"/>
                </a:lnTo>
                <a:lnTo>
                  <a:pt x="0" y="27595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4" name="Freeform 14"/>
          <p:cNvSpPr/>
          <p:nvPr/>
        </p:nvSpPr>
        <p:spPr>
          <a:xfrm>
            <a:off x="12681349" y="1800995"/>
            <a:ext cx="1882576" cy="3163994"/>
          </a:xfrm>
          <a:custGeom>
            <a:avLst/>
            <a:gdLst/>
            <a:ahLst/>
            <a:cxnLst/>
            <a:rect l="l" t="t" r="r" b="b"/>
            <a:pathLst>
              <a:path w="1882576" h="3163994">
                <a:moveTo>
                  <a:pt x="0" y="0"/>
                </a:moveTo>
                <a:lnTo>
                  <a:pt x="1882576" y="0"/>
                </a:lnTo>
                <a:lnTo>
                  <a:pt x="1882576" y="3163994"/>
                </a:lnTo>
                <a:lnTo>
                  <a:pt x="0" y="316399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5" name="Freeform 15"/>
          <p:cNvSpPr/>
          <p:nvPr/>
        </p:nvSpPr>
        <p:spPr>
          <a:xfrm>
            <a:off x="5005530" y="2115038"/>
            <a:ext cx="1695721" cy="2849952"/>
          </a:xfrm>
          <a:custGeom>
            <a:avLst/>
            <a:gdLst/>
            <a:ahLst/>
            <a:cxnLst/>
            <a:rect l="l" t="t" r="r" b="b"/>
            <a:pathLst>
              <a:path w="1695721" h="2849952">
                <a:moveTo>
                  <a:pt x="0" y="0"/>
                </a:moveTo>
                <a:lnTo>
                  <a:pt x="1695721" y="0"/>
                </a:lnTo>
                <a:lnTo>
                  <a:pt x="1695721" y="2849951"/>
                </a:lnTo>
                <a:lnTo>
                  <a:pt x="0" y="284995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6" name="Freeform 16"/>
          <p:cNvSpPr/>
          <p:nvPr/>
        </p:nvSpPr>
        <p:spPr>
          <a:xfrm>
            <a:off x="2566996" y="1740466"/>
            <a:ext cx="1948065" cy="3274059"/>
          </a:xfrm>
          <a:custGeom>
            <a:avLst/>
            <a:gdLst/>
            <a:ahLst/>
            <a:cxnLst/>
            <a:rect l="l" t="t" r="r" b="b"/>
            <a:pathLst>
              <a:path w="1948065" h="3274059">
                <a:moveTo>
                  <a:pt x="0" y="0"/>
                </a:moveTo>
                <a:lnTo>
                  <a:pt x="1948065" y="0"/>
                </a:lnTo>
                <a:lnTo>
                  <a:pt x="1948065" y="3274059"/>
                </a:lnTo>
                <a:lnTo>
                  <a:pt x="0" y="327405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7" name="Freeform 17"/>
          <p:cNvSpPr/>
          <p:nvPr/>
        </p:nvSpPr>
        <p:spPr>
          <a:xfrm>
            <a:off x="618930" y="1963073"/>
            <a:ext cx="1786140" cy="3001917"/>
          </a:xfrm>
          <a:custGeom>
            <a:avLst/>
            <a:gdLst/>
            <a:ahLst/>
            <a:cxnLst/>
            <a:rect l="l" t="t" r="r" b="b"/>
            <a:pathLst>
              <a:path w="1786140" h="3001917">
                <a:moveTo>
                  <a:pt x="0" y="0"/>
                </a:moveTo>
                <a:lnTo>
                  <a:pt x="1786141" y="0"/>
                </a:lnTo>
                <a:lnTo>
                  <a:pt x="1786141" y="3001916"/>
                </a:lnTo>
                <a:lnTo>
                  <a:pt x="0" y="300191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8" name="Freeform 18"/>
          <p:cNvSpPr/>
          <p:nvPr/>
        </p:nvSpPr>
        <p:spPr>
          <a:xfrm>
            <a:off x="618930" y="2894493"/>
            <a:ext cx="3834057" cy="2238131"/>
          </a:xfrm>
          <a:custGeom>
            <a:avLst/>
            <a:gdLst/>
            <a:ahLst/>
            <a:cxnLst/>
            <a:rect l="l" t="t" r="r" b="b"/>
            <a:pathLst>
              <a:path w="3834057" h="2238131">
                <a:moveTo>
                  <a:pt x="0" y="0"/>
                </a:moveTo>
                <a:lnTo>
                  <a:pt x="3834057" y="0"/>
                </a:lnTo>
                <a:lnTo>
                  <a:pt x="3834057" y="2238130"/>
                </a:lnTo>
                <a:lnTo>
                  <a:pt x="0" y="223813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19" name="Freeform 19"/>
          <p:cNvSpPr/>
          <p:nvPr/>
        </p:nvSpPr>
        <p:spPr>
          <a:xfrm>
            <a:off x="13542854" y="3028416"/>
            <a:ext cx="2839870" cy="2062455"/>
          </a:xfrm>
          <a:custGeom>
            <a:avLst/>
            <a:gdLst/>
            <a:ahLst/>
            <a:cxnLst/>
            <a:rect l="l" t="t" r="r" b="b"/>
            <a:pathLst>
              <a:path w="2839870" h="2062455">
                <a:moveTo>
                  <a:pt x="0" y="0"/>
                </a:moveTo>
                <a:lnTo>
                  <a:pt x="2839870" y="0"/>
                </a:lnTo>
                <a:lnTo>
                  <a:pt x="2839870" y="2062455"/>
                </a:lnTo>
                <a:lnTo>
                  <a:pt x="0" y="206245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0" name="Freeform 20"/>
          <p:cNvSpPr/>
          <p:nvPr/>
        </p:nvSpPr>
        <p:spPr>
          <a:xfrm>
            <a:off x="3701727" y="3446688"/>
            <a:ext cx="2471393" cy="1794849"/>
          </a:xfrm>
          <a:custGeom>
            <a:avLst/>
            <a:gdLst/>
            <a:ahLst/>
            <a:cxnLst/>
            <a:rect l="l" t="t" r="r" b="b"/>
            <a:pathLst>
              <a:path w="2471393" h="1794849">
                <a:moveTo>
                  <a:pt x="0" y="0"/>
                </a:moveTo>
                <a:lnTo>
                  <a:pt x="2471394" y="0"/>
                </a:lnTo>
                <a:lnTo>
                  <a:pt x="2471394" y="1794849"/>
                </a:lnTo>
                <a:lnTo>
                  <a:pt x="0" y="1794849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1" name="Freeform 21"/>
          <p:cNvSpPr/>
          <p:nvPr/>
        </p:nvSpPr>
        <p:spPr>
          <a:xfrm>
            <a:off x="4851151" y="4013558"/>
            <a:ext cx="8804230" cy="8132908"/>
          </a:xfrm>
          <a:custGeom>
            <a:avLst/>
            <a:gdLst/>
            <a:ahLst/>
            <a:cxnLst/>
            <a:rect l="l" t="t" r="r" b="b"/>
            <a:pathLst>
              <a:path w="8804230" h="8132908">
                <a:moveTo>
                  <a:pt x="0" y="0"/>
                </a:moveTo>
                <a:lnTo>
                  <a:pt x="8804230" y="0"/>
                </a:lnTo>
                <a:lnTo>
                  <a:pt x="8804230" y="8132908"/>
                </a:lnTo>
                <a:lnTo>
                  <a:pt x="0" y="8132908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2" name="Freeform 22"/>
          <p:cNvSpPr/>
          <p:nvPr/>
        </p:nvSpPr>
        <p:spPr>
          <a:xfrm flipH="1">
            <a:off x="14962789" y="4013558"/>
            <a:ext cx="1972198" cy="1077313"/>
          </a:xfrm>
          <a:custGeom>
            <a:avLst/>
            <a:gdLst/>
            <a:ahLst/>
            <a:cxnLst/>
            <a:rect l="l" t="t" r="r" b="b"/>
            <a:pathLst>
              <a:path w="1972198" h="1077313">
                <a:moveTo>
                  <a:pt x="1972198" y="0"/>
                </a:moveTo>
                <a:lnTo>
                  <a:pt x="0" y="0"/>
                </a:lnTo>
                <a:lnTo>
                  <a:pt x="0" y="1077313"/>
                </a:lnTo>
                <a:lnTo>
                  <a:pt x="1972198" y="1077313"/>
                </a:lnTo>
                <a:lnTo>
                  <a:pt x="1972198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3" name="Freeform 23"/>
          <p:cNvSpPr/>
          <p:nvPr/>
        </p:nvSpPr>
        <p:spPr>
          <a:xfrm>
            <a:off x="13542854" y="4344112"/>
            <a:ext cx="1139062" cy="946457"/>
          </a:xfrm>
          <a:custGeom>
            <a:avLst/>
            <a:gdLst/>
            <a:ahLst/>
            <a:cxnLst/>
            <a:rect l="l" t="t" r="r" b="b"/>
            <a:pathLst>
              <a:path w="1139062" h="946457">
                <a:moveTo>
                  <a:pt x="0" y="0"/>
                </a:moveTo>
                <a:lnTo>
                  <a:pt x="1139062" y="0"/>
                </a:lnTo>
                <a:lnTo>
                  <a:pt x="1139062" y="946457"/>
                </a:lnTo>
                <a:lnTo>
                  <a:pt x="0" y="94645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4" name="Freeform 24"/>
          <p:cNvSpPr/>
          <p:nvPr/>
        </p:nvSpPr>
        <p:spPr>
          <a:xfrm>
            <a:off x="13622637" y="7879103"/>
            <a:ext cx="6048691" cy="2777357"/>
          </a:xfrm>
          <a:custGeom>
            <a:avLst/>
            <a:gdLst/>
            <a:ahLst/>
            <a:cxnLst/>
            <a:rect l="l" t="t" r="r" b="b"/>
            <a:pathLst>
              <a:path w="6048691" h="2777357">
                <a:moveTo>
                  <a:pt x="0" y="0"/>
                </a:moveTo>
                <a:lnTo>
                  <a:pt x="6048691" y="0"/>
                </a:lnTo>
                <a:lnTo>
                  <a:pt x="6048691" y="2777358"/>
                </a:lnTo>
                <a:lnTo>
                  <a:pt x="0" y="2777358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5" name="Freeform 25"/>
          <p:cNvSpPr/>
          <p:nvPr/>
        </p:nvSpPr>
        <p:spPr>
          <a:xfrm>
            <a:off x="16251961" y="7985080"/>
            <a:ext cx="3419367" cy="2671380"/>
          </a:xfrm>
          <a:custGeom>
            <a:avLst/>
            <a:gdLst/>
            <a:ahLst/>
            <a:cxnLst/>
            <a:rect l="l" t="t" r="r" b="b"/>
            <a:pathLst>
              <a:path w="3419367" h="2671380">
                <a:moveTo>
                  <a:pt x="0" y="0"/>
                </a:moveTo>
                <a:lnTo>
                  <a:pt x="3419367" y="0"/>
                </a:lnTo>
                <a:lnTo>
                  <a:pt x="3419367" y="2671381"/>
                </a:lnTo>
                <a:lnTo>
                  <a:pt x="0" y="2671381"/>
                </a:lnTo>
                <a:lnTo>
                  <a:pt x="0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6" name="Freeform 26"/>
          <p:cNvSpPr/>
          <p:nvPr/>
        </p:nvSpPr>
        <p:spPr>
          <a:xfrm flipH="1">
            <a:off x="7804608" y="8636259"/>
            <a:ext cx="2928020" cy="2287516"/>
          </a:xfrm>
          <a:custGeom>
            <a:avLst/>
            <a:gdLst/>
            <a:ahLst/>
            <a:cxnLst/>
            <a:rect l="l" t="t" r="r" b="b"/>
            <a:pathLst>
              <a:path w="2928020" h="2287516">
                <a:moveTo>
                  <a:pt x="2928021" y="0"/>
                </a:moveTo>
                <a:lnTo>
                  <a:pt x="0" y="0"/>
                </a:lnTo>
                <a:lnTo>
                  <a:pt x="0" y="2287516"/>
                </a:lnTo>
                <a:lnTo>
                  <a:pt x="2928021" y="2287516"/>
                </a:lnTo>
                <a:lnTo>
                  <a:pt x="2928021" y="0"/>
                </a:lnTo>
                <a:close/>
              </a:path>
            </a:pathLst>
          </a:custGeom>
          <a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7" name="Freeform 27"/>
          <p:cNvSpPr/>
          <p:nvPr/>
        </p:nvSpPr>
        <p:spPr>
          <a:xfrm>
            <a:off x="349560" y="6511977"/>
            <a:ext cx="4785479" cy="3026815"/>
          </a:xfrm>
          <a:custGeom>
            <a:avLst/>
            <a:gdLst/>
            <a:ahLst/>
            <a:cxnLst/>
            <a:rect l="l" t="t" r="r" b="b"/>
            <a:pathLst>
              <a:path w="4785479" h="3026815">
                <a:moveTo>
                  <a:pt x="0" y="0"/>
                </a:moveTo>
                <a:lnTo>
                  <a:pt x="4785479" y="0"/>
                </a:lnTo>
                <a:lnTo>
                  <a:pt x="4785479" y="3026815"/>
                </a:lnTo>
                <a:lnTo>
                  <a:pt x="0" y="3026815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8" name="Freeform 28"/>
          <p:cNvSpPr/>
          <p:nvPr/>
        </p:nvSpPr>
        <p:spPr>
          <a:xfrm>
            <a:off x="3194049" y="666938"/>
            <a:ext cx="693958" cy="527408"/>
          </a:xfrm>
          <a:custGeom>
            <a:avLst/>
            <a:gdLst/>
            <a:ahLst/>
            <a:cxnLst/>
            <a:rect l="l" t="t" r="r" b="b"/>
            <a:pathLst>
              <a:path w="693958" h="527408">
                <a:moveTo>
                  <a:pt x="0" y="0"/>
                </a:moveTo>
                <a:lnTo>
                  <a:pt x="693958" y="0"/>
                </a:lnTo>
                <a:lnTo>
                  <a:pt x="693958" y="527408"/>
                </a:lnTo>
                <a:lnTo>
                  <a:pt x="0" y="527408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29" name="Freeform 29"/>
          <p:cNvSpPr/>
          <p:nvPr/>
        </p:nvSpPr>
        <p:spPr>
          <a:xfrm>
            <a:off x="13622637" y="655732"/>
            <a:ext cx="686747" cy="535663"/>
          </a:xfrm>
          <a:custGeom>
            <a:avLst/>
            <a:gdLst/>
            <a:ahLst/>
            <a:cxnLst/>
            <a:rect l="l" t="t" r="r" b="b"/>
            <a:pathLst>
              <a:path w="686747" h="535663">
                <a:moveTo>
                  <a:pt x="0" y="0"/>
                </a:moveTo>
                <a:lnTo>
                  <a:pt x="686747" y="0"/>
                </a:lnTo>
                <a:lnTo>
                  <a:pt x="686747" y="535663"/>
                </a:lnTo>
                <a:lnTo>
                  <a:pt x="0" y="535663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TH"/>
          </a:p>
        </p:txBody>
      </p:sp>
      <p:sp>
        <p:nvSpPr>
          <p:cNvPr id="30" name="TextBox 30"/>
          <p:cNvSpPr txBox="1"/>
          <p:nvPr/>
        </p:nvSpPr>
        <p:spPr>
          <a:xfrm>
            <a:off x="4224334" y="5300094"/>
            <a:ext cx="9839332" cy="1858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56"/>
              </a:lnSpc>
            </a:pPr>
            <a:r>
              <a:rPr lang="en-US" sz="10754" spc="505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Thank you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25515" y="926188"/>
            <a:ext cx="13776810" cy="479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7"/>
              </a:lnSpc>
            </a:pPr>
            <a:r>
              <a:rPr lang="en-US" sz="2834">
                <a:solidFill>
                  <a:srgbClr val="1D84CE"/>
                </a:solidFill>
                <a:latin typeface="More Sugar"/>
                <a:ea typeface="More Sugar"/>
                <a:cs typeface="More Sugar"/>
                <a:sym typeface="More Sugar"/>
              </a:rPr>
              <a:t> We cannot prevent floods, but we can prevent disasters.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313</Words>
  <Application>Microsoft Macintosh PowerPoint</Application>
  <PresentationFormat>Custom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Montserrat</vt:lpstr>
      <vt:lpstr>Calibri</vt:lpstr>
      <vt:lpstr>Klein Bold</vt:lpstr>
      <vt:lpstr>More Sugar</vt:lpstr>
      <vt:lpstr>Montserrat Bold</vt:lpstr>
      <vt:lpstr>Klein</vt:lpstr>
      <vt:lpstr>Cooper Hewitt Bold</vt:lpstr>
      <vt:lpstr>Klein Heavy</vt:lpstr>
      <vt:lpstr>Arial</vt:lpstr>
      <vt:lpstr>Mulled Wine Season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Tropical Storms</dc:title>
  <cp:lastModifiedBy>Thwin Htoo Aung</cp:lastModifiedBy>
  <cp:revision>2</cp:revision>
  <dcterms:created xsi:type="dcterms:W3CDTF">2006-08-16T00:00:00Z</dcterms:created>
  <dcterms:modified xsi:type="dcterms:W3CDTF">2025-09-24T13:03:03Z</dcterms:modified>
  <dc:identifier>DAGz4SNE5FQ</dc:identifier>
</cp:coreProperties>
</file>